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746"/>
                </a:solidFill>
                <a:latin typeface="Aptos Display"/>
              </a:defRPr>
            </a:pPr>
            <a:r>
              <a:t>KOMPONEN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44200" cy="425196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84080" y="1234440"/>
            <a:ext cx="914400" cy="914400"/>
          </a:xfrm>
          <a:prstGeom prst="ellipse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52760" y="1965960"/>
            <a:ext cx="502920" cy="502920"/>
          </a:xfrm>
          <a:prstGeom prst="ellipse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052560" y="4983480"/>
            <a:ext cx="594360" cy="594360"/>
          </a:xfrm>
          <a:prstGeom prst="ellipse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46920" y="5440680"/>
            <a:ext cx="320040" cy="320040"/>
          </a:xfrm>
          <a:prstGeom prst="ellipse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5672194" cy="16722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2364B4"/>
                </a:solidFill>
                <a:latin typeface="Aptos Display"/>
              </a:defRPr>
            </a:pPr>
            <a:r>
              <a:rPr dirty="0"/>
              <a:t>DATABASE MANAGEMENT</a:t>
            </a:r>
            <a:br>
              <a:rPr dirty="0"/>
            </a:br>
            <a:r>
              <a:rPr dirty="0"/>
              <a:t>SYSTEM</a:t>
            </a:r>
          </a:p>
          <a:p>
            <a:pPr>
              <a:defRPr sz="2000">
                <a:solidFill>
                  <a:srgbClr val="232D3A"/>
                </a:solidFill>
              </a:defRPr>
            </a:pPr>
            <a:r>
              <a:rPr lang="en-US" dirty="0"/>
              <a:t>LINDA PERDANA WANTI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1234440" y="4251960"/>
            <a:ext cx="2103120" cy="475488"/>
          </a:xfrm>
          <a:prstGeom prst="roundRect">
            <a:avLst/>
          </a:prstGeom>
          <a:solidFill>
            <a:srgbClr val="12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KOMPONEN DBMS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Tujuan Pembelajaran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Mahasiswa</a:t>
            </a:r>
            <a:r>
              <a:rPr sz="2600" dirty="0"/>
              <a:t> </a:t>
            </a:r>
            <a:r>
              <a:rPr sz="2600" dirty="0" err="1"/>
              <a:t>mampu</a:t>
            </a:r>
            <a:r>
              <a:rPr sz="2600" dirty="0"/>
              <a:t> </a:t>
            </a:r>
            <a:r>
              <a:rPr sz="2600" dirty="0" err="1"/>
              <a:t>menjelaskan</a:t>
            </a:r>
            <a:r>
              <a:rPr sz="2600" dirty="0"/>
              <a:t> </a:t>
            </a:r>
            <a:r>
              <a:rPr sz="2600" dirty="0" err="1"/>
              <a:t>pengertian</a:t>
            </a:r>
            <a:r>
              <a:rPr sz="2600" dirty="0"/>
              <a:t> dan </a:t>
            </a:r>
            <a:r>
              <a:rPr sz="2600" dirty="0" err="1"/>
              <a:t>fungsi</a:t>
            </a:r>
            <a:r>
              <a:rPr sz="2600" dirty="0"/>
              <a:t> DBMS.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Mahasiswa</a:t>
            </a:r>
            <a:r>
              <a:rPr sz="2600" dirty="0"/>
              <a:t> </a:t>
            </a:r>
            <a:r>
              <a:rPr sz="2600" dirty="0" err="1"/>
              <a:t>mampu</a:t>
            </a:r>
            <a:r>
              <a:rPr sz="2600" dirty="0"/>
              <a:t> </a:t>
            </a:r>
            <a:r>
              <a:rPr sz="2600" dirty="0" err="1"/>
              <a:t>mengidentifikasi</a:t>
            </a:r>
            <a:r>
              <a:rPr sz="2600" dirty="0"/>
              <a:t> </a:t>
            </a:r>
            <a:r>
              <a:rPr sz="2600" dirty="0" err="1"/>
              <a:t>komponen</a:t>
            </a:r>
            <a:r>
              <a:rPr sz="2600" dirty="0"/>
              <a:t> </a:t>
            </a:r>
            <a:r>
              <a:rPr sz="2600" dirty="0" err="1"/>
              <a:t>utama</a:t>
            </a:r>
            <a:r>
              <a:rPr sz="2600" dirty="0"/>
              <a:t> DBMS.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Mahasiswa</a:t>
            </a:r>
            <a:r>
              <a:rPr sz="2600" dirty="0"/>
              <a:t> </a:t>
            </a:r>
            <a:r>
              <a:rPr sz="2600" dirty="0" err="1"/>
              <a:t>mampu</a:t>
            </a:r>
            <a:r>
              <a:rPr sz="2600" dirty="0"/>
              <a:t> </a:t>
            </a:r>
            <a:r>
              <a:rPr sz="2600" dirty="0" err="1"/>
              <a:t>menjelaskan</a:t>
            </a:r>
            <a:r>
              <a:rPr sz="2600" dirty="0"/>
              <a:t> </a:t>
            </a:r>
            <a:r>
              <a:rPr sz="2600" dirty="0" err="1"/>
              <a:t>fungsi</a:t>
            </a:r>
            <a:r>
              <a:rPr sz="2600" dirty="0"/>
              <a:t> </a:t>
            </a:r>
            <a:r>
              <a:rPr sz="2600" dirty="0" err="1"/>
              <a:t>komponen</a:t>
            </a:r>
            <a:r>
              <a:rPr sz="2600" dirty="0"/>
              <a:t> internal DBMS.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Mahasiswa</a:t>
            </a:r>
            <a:r>
              <a:rPr sz="2600" dirty="0"/>
              <a:t> </a:t>
            </a:r>
            <a:r>
              <a:rPr sz="2600" dirty="0" err="1"/>
              <a:t>mampu</a:t>
            </a:r>
            <a:r>
              <a:rPr sz="2600" dirty="0"/>
              <a:t> </a:t>
            </a:r>
            <a:r>
              <a:rPr sz="2600" dirty="0" err="1"/>
              <a:t>memahami</a:t>
            </a:r>
            <a:r>
              <a:rPr sz="2600" dirty="0"/>
              <a:t> </a:t>
            </a:r>
            <a:r>
              <a:rPr sz="2600" dirty="0" err="1"/>
              <a:t>penerapan</a:t>
            </a:r>
            <a:r>
              <a:rPr sz="2600" dirty="0"/>
              <a:t> DBMS pada </a:t>
            </a:r>
            <a:r>
              <a:rPr sz="2600" dirty="0" err="1"/>
              <a:t>sistem</a:t>
            </a:r>
            <a:r>
              <a:rPr sz="2600" dirty="0"/>
              <a:t> </a:t>
            </a:r>
            <a:r>
              <a:rPr sz="2600" dirty="0" err="1"/>
              <a:t>informasi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Pengertian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DBMS </a:t>
            </a:r>
            <a:r>
              <a:rPr sz="2600" dirty="0" err="1"/>
              <a:t>adalah</a:t>
            </a:r>
            <a:r>
              <a:rPr sz="2600" dirty="0"/>
              <a:t> </a:t>
            </a:r>
            <a:r>
              <a:rPr sz="2600" dirty="0" err="1"/>
              <a:t>perangkat</a:t>
            </a:r>
            <a:r>
              <a:rPr sz="2600" dirty="0"/>
              <a:t> </a:t>
            </a:r>
            <a:r>
              <a:rPr sz="2600" dirty="0" err="1"/>
              <a:t>lunak</a:t>
            </a:r>
            <a:r>
              <a:rPr sz="2600" dirty="0"/>
              <a:t> </a:t>
            </a:r>
            <a:r>
              <a:rPr sz="2600" dirty="0" err="1"/>
              <a:t>untuk</a:t>
            </a:r>
            <a:r>
              <a:rPr sz="2600" dirty="0"/>
              <a:t> </a:t>
            </a:r>
            <a:r>
              <a:rPr sz="2600" dirty="0" err="1"/>
              <a:t>membuat</a:t>
            </a:r>
            <a:r>
              <a:rPr sz="2600" dirty="0"/>
              <a:t>, </a:t>
            </a:r>
            <a:r>
              <a:rPr sz="2600" dirty="0" err="1"/>
              <a:t>menyimpan</a:t>
            </a:r>
            <a:r>
              <a:rPr sz="2600" dirty="0"/>
              <a:t>, </a:t>
            </a:r>
            <a:r>
              <a:rPr sz="2600" dirty="0" err="1"/>
              <a:t>mengelola</a:t>
            </a:r>
            <a:r>
              <a:rPr sz="2600" dirty="0"/>
              <a:t>, </a:t>
            </a:r>
            <a:r>
              <a:rPr sz="2600" dirty="0" err="1"/>
              <a:t>mengakses</a:t>
            </a:r>
            <a:r>
              <a:rPr sz="2600" dirty="0"/>
              <a:t>, dan </a:t>
            </a:r>
            <a:r>
              <a:rPr sz="2600" dirty="0" err="1"/>
              <a:t>mengamankan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DBMS </a:t>
            </a:r>
            <a:r>
              <a:rPr sz="2600" dirty="0" err="1"/>
              <a:t>menjadi</a:t>
            </a:r>
            <a:r>
              <a:rPr sz="2600" dirty="0"/>
              <a:t> </a:t>
            </a:r>
            <a:r>
              <a:rPr sz="2600" dirty="0" err="1"/>
              <a:t>perantara</a:t>
            </a:r>
            <a:r>
              <a:rPr sz="2600" dirty="0"/>
              <a:t> </a:t>
            </a:r>
            <a:r>
              <a:rPr sz="2600" dirty="0" err="1"/>
              <a:t>antara</a:t>
            </a:r>
            <a:r>
              <a:rPr sz="2600" dirty="0"/>
              <a:t> </a:t>
            </a:r>
            <a:r>
              <a:rPr sz="2600" dirty="0" err="1"/>
              <a:t>pengguna</a:t>
            </a:r>
            <a:r>
              <a:rPr sz="2600" dirty="0"/>
              <a:t>/</a:t>
            </a:r>
            <a:r>
              <a:rPr sz="2600" dirty="0" err="1"/>
              <a:t>aplikasi</a:t>
            </a:r>
            <a:r>
              <a:rPr sz="2600" dirty="0"/>
              <a:t> </a:t>
            </a:r>
            <a:r>
              <a:rPr sz="2600" dirty="0" err="1"/>
              <a:t>dengan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Contoh</a:t>
            </a:r>
            <a:r>
              <a:rPr sz="2600" dirty="0"/>
              <a:t>: MySQL, PostgreSQL, Oracle Database, Microsoft SQL Server, dan MariaDB.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Komponen Utama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>
              <a:spcAft>
                <a:spcPts val="13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1. Hardware (</a:t>
            </a:r>
            <a:r>
              <a:rPr sz="2600" dirty="0" err="1"/>
              <a:t>Perangkat</a:t>
            </a:r>
            <a:r>
              <a:rPr sz="2600" dirty="0"/>
              <a:t> </a:t>
            </a:r>
            <a:r>
              <a:rPr sz="2600" dirty="0" err="1"/>
              <a:t>Keras</a:t>
            </a:r>
            <a:r>
              <a:rPr sz="2600" dirty="0"/>
              <a:t>)</a:t>
            </a:r>
            <a:br>
              <a:rPr sz="2600" dirty="0"/>
            </a:br>
            <a:r>
              <a:rPr sz="2600" dirty="0"/>
              <a:t>2. Software (</a:t>
            </a:r>
            <a:r>
              <a:rPr sz="2600" dirty="0" err="1"/>
              <a:t>Perangkat</a:t>
            </a:r>
            <a:r>
              <a:rPr sz="2600" dirty="0"/>
              <a:t> Lunak)</a:t>
            </a:r>
            <a:br>
              <a:rPr sz="2600" dirty="0"/>
            </a:br>
            <a:r>
              <a:rPr sz="2600" dirty="0"/>
              <a:t>3. Database (Basis Data)</a:t>
            </a:r>
            <a:br>
              <a:rPr sz="2600" dirty="0"/>
            </a:br>
            <a:r>
              <a:rPr sz="2600" dirty="0"/>
              <a:t>4. Data</a:t>
            </a:r>
            <a:br>
              <a:rPr sz="2600" dirty="0"/>
            </a:br>
            <a:r>
              <a:rPr sz="2600" dirty="0"/>
              <a:t>5. Database Access Language</a:t>
            </a:r>
            <a:br>
              <a:rPr sz="2600" dirty="0"/>
            </a:br>
            <a:r>
              <a:rPr sz="2600" dirty="0"/>
              <a:t>6. Procedure</a:t>
            </a:r>
            <a:br>
              <a:rPr sz="2600" dirty="0"/>
            </a:br>
            <a:r>
              <a:rPr sz="2600" dirty="0"/>
              <a:t>7. People/Users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342900" indent="-34290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Perangkat</a:t>
            </a:r>
            <a:r>
              <a:rPr sz="2600" dirty="0"/>
              <a:t> </a:t>
            </a:r>
            <a:r>
              <a:rPr sz="2600" dirty="0" err="1"/>
              <a:t>keras</a:t>
            </a:r>
            <a:r>
              <a:rPr sz="2600" dirty="0"/>
              <a:t> yang </a:t>
            </a:r>
            <a:r>
              <a:rPr sz="2600" dirty="0" err="1"/>
              <a:t>digunakan</a:t>
            </a:r>
            <a:r>
              <a:rPr sz="2600" dirty="0"/>
              <a:t> </a:t>
            </a:r>
            <a:r>
              <a:rPr sz="2600" dirty="0" err="1"/>
              <a:t>untuk</a:t>
            </a:r>
            <a:r>
              <a:rPr sz="2600" dirty="0"/>
              <a:t> </a:t>
            </a:r>
            <a:r>
              <a:rPr sz="2600" dirty="0" err="1"/>
              <a:t>menjalankan</a:t>
            </a:r>
            <a:r>
              <a:rPr sz="2600" dirty="0"/>
              <a:t> DBMS dan </a:t>
            </a:r>
            <a:r>
              <a:rPr sz="2600" dirty="0" err="1"/>
              <a:t>menyimpan</a:t>
            </a:r>
            <a:r>
              <a:rPr sz="2600" dirty="0"/>
              <a:t> database.</a:t>
            </a:r>
            <a:endParaRPr lang="en-US" sz="2600" dirty="0"/>
          </a:p>
          <a:p>
            <a:pPr marL="342900" indent="-34290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Contoh</a:t>
            </a:r>
            <a:r>
              <a:rPr sz="2600" dirty="0"/>
              <a:t>: server, </a:t>
            </a:r>
            <a:r>
              <a:rPr sz="2600" dirty="0" err="1"/>
              <a:t>komputer</a:t>
            </a:r>
            <a:r>
              <a:rPr sz="2600" dirty="0"/>
              <a:t>/laptop, RAM, processor, SSD/HDD, dan </a:t>
            </a:r>
            <a:r>
              <a:rPr sz="2600" dirty="0" err="1"/>
              <a:t>perangkat</a:t>
            </a:r>
            <a:r>
              <a:rPr sz="2600" dirty="0"/>
              <a:t> </a:t>
            </a:r>
            <a:r>
              <a:rPr sz="2600" dirty="0" err="1"/>
              <a:t>jaringan</a:t>
            </a:r>
            <a:r>
              <a:rPr sz="2600" dirty="0"/>
              <a:t>.</a:t>
            </a:r>
            <a:endParaRPr lang="en-US" sz="2600" dirty="0"/>
          </a:p>
          <a:p>
            <a:pPr marL="342900" indent="-34290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Fungsi</a:t>
            </a:r>
            <a:r>
              <a:rPr sz="2600" dirty="0"/>
              <a:t>: </a:t>
            </a:r>
            <a:r>
              <a:rPr sz="2600" dirty="0" err="1"/>
              <a:t>menyediakan</a:t>
            </a:r>
            <a:r>
              <a:rPr sz="2600" dirty="0"/>
              <a:t> </a:t>
            </a:r>
            <a:r>
              <a:rPr sz="2600" dirty="0" err="1"/>
              <a:t>sumber</a:t>
            </a:r>
            <a:r>
              <a:rPr sz="2600" dirty="0"/>
              <a:t> </a:t>
            </a:r>
            <a:r>
              <a:rPr sz="2600" dirty="0" err="1"/>
              <a:t>daya</a:t>
            </a:r>
            <a:r>
              <a:rPr sz="2600" dirty="0"/>
              <a:t> </a:t>
            </a:r>
            <a:r>
              <a:rPr sz="2600" dirty="0" err="1"/>
              <a:t>komputasi</a:t>
            </a:r>
            <a:r>
              <a:rPr sz="2600" dirty="0"/>
              <a:t> dan media </a:t>
            </a:r>
            <a:r>
              <a:rPr sz="2600" dirty="0" err="1"/>
              <a:t>penyimpanan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Perangkat</a:t>
            </a:r>
            <a:r>
              <a:rPr sz="2600" dirty="0"/>
              <a:t> </a:t>
            </a:r>
            <a:r>
              <a:rPr sz="2600" dirty="0" err="1"/>
              <a:t>lunak</a:t>
            </a:r>
            <a:r>
              <a:rPr sz="2600" dirty="0"/>
              <a:t> yang </a:t>
            </a:r>
            <a:r>
              <a:rPr sz="2600" dirty="0" err="1"/>
              <a:t>digunakan</a:t>
            </a:r>
            <a:r>
              <a:rPr sz="2600" dirty="0"/>
              <a:t> </a:t>
            </a:r>
            <a:r>
              <a:rPr sz="2600" dirty="0" err="1"/>
              <a:t>untuk</a:t>
            </a:r>
            <a:r>
              <a:rPr sz="2600" dirty="0"/>
              <a:t> </a:t>
            </a:r>
            <a:r>
              <a:rPr sz="2600" dirty="0" err="1"/>
              <a:t>mengelola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Meliputi</a:t>
            </a:r>
            <a:r>
              <a:rPr sz="2600" dirty="0"/>
              <a:t> DBMS, </a:t>
            </a:r>
            <a:r>
              <a:rPr sz="2600" dirty="0" err="1"/>
              <a:t>sistem</a:t>
            </a:r>
            <a:r>
              <a:rPr sz="2600" dirty="0"/>
              <a:t> </a:t>
            </a:r>
            <a:r>
              <a:rPr sz="2600" dirty="0" err="1"/>
              <a:t>operasi</a:t>
            </a:r>
            <a:r>
              <a:rPr sz="2600" dirty="0"/>
              <a:t>, </a:t>
            </a:r>
            <a:r>
              <a:rPr sz="2600" dirty="0" err="1"/>
              <a:t>aplikasi</a:t>
            </a:r>
            <a:r>
              <a:rPr sz="2600" dirty="0"/>
              <a:t> database, utilities, </a:t>
            </a:r>
            <a:r>
              <a:rPr sz="2600" dirty="0" err="1"/>
              <a:t>serta</a:t>
            </a:r>
            <a:r>
              <a:rPr sz="2600" dirty="0"/>
              <a:t> driver/</a:t>
            </a:r>
            <a:r>
              <a:rPr sz="2600" dirty="0" err="1"/>
              <a:t>konektor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Contoh</a:t>
            </a:r>
            <a:r>
              <a:rPr sz="2600" dirty="0"/>
              <a:t> DBMS: MySQL, PostgreSQL, Oracle, SQL Server, MariaDB.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Database dan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Database </a:t>
            </a:r>
            <a:r>
              <a:rPr sz="2600" dirty="0" err="1"/>
              <a:t>adalah</a:t>
            </a:r>
            <a:r>
              <a:rPr sz="2600" dirty="0"/>
              <a:t> </a:t>
            </a:r>
            <a:r>
              <a:rPr sz="2600" dirty="0" err="1"/>
              <a:t>kumpulan</a:t>
            </a:r>
            <a:r>
              <a:rPr sz="2600" dirty="0"/>
              <a:t> data yang </a:t>
            </a:r>
            <a:r>
              <a:rPr sz="2600" dirty="0" err="1"/>
              <a:t>disimpan</a:t>
            </a:r>
            <a:r>
              <a:rPr sz="2600" dirty="0"/>
              <a:t> </a:t>
            </a:r>
            <a:r>
              <a:rPr sz="2600" dirty="0" err="1"/>
              <a:t>secara</a:t>
            </a:r>
            <a:r>
              <a:rPr sz="2600" dirty="0"/>
              <a:t> </a:t>
            </a:r>
            <a:r>
              <a:rPr sz="2600" dirty="0" err="1"/>
              <a:t>terstruktur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Contoh</a:t>
            </a:r>
            <a:r>
              <a:rPr sz="2600" dirty="0"/>
              <a:t> database </a:t>
            </a:r>
            <a:r>
              <a:rPr sz="2600" dirty="0" err="1"/>
              <a:t>akademik</a:t>
            </a:r>
            <a:r>
              <a:rPr sz="2600" dirty="0"/>
              <a:t>: </a:t>
            </a:r>
            <a:r>
              <a:rPr sz="2600" dirty="0" err="1"/>
              <a:t>mahasiswa</a:t>
            </a:r>
            <a:r>
              <a:rPr sz="2600" dirty="0"/>
              <a:t>, </a:t>
            </a:r>
            <a:r>
              <a:rPr sz="2600" dirty="0" err="1"/>
              <a:t>dosen</a:t>
            </a:r>
            <a:r>
              <a:rPr sz="2600" dirty="0"/>
              <a:t>, </a:t>
            </a:r>
            <a:r>
              <a:rPr sz="2600" dirty="0" err="1"/>
              <a:t>mata</a:t>
            </a:r>
            <a:r>
              <a:rPr sz="2600" dirty="0"/>
              <a:t> </a:t>
            </a:r>
            <a:r>
              <a:rPr sz="2600" dirty="0" err="1"/>
              <a:t>kuliah</a:t>
            </a:r>
            <a:r>
              <a:rPr sz="2600" dirty="0"/>
              <a:t>, </a:t>
            </a:r>
            <a:r>
              <a:rPr sz="2600" dirty="0" err="1"/>
              <a:t>nilai</a:t>
            </a:r>
            <a:r>
              <a:rPr sz="2600" dirty="0"/>
              <a:t>, dan </a:t>
            </a:r>
            <a:r>
              <a:rPr sz="2600" dirty="0" err="1"/>
              <a:t>jadwal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 </a:t>
            </a:r>
            <a:r>
              <a:rPr sz="2600" dirty="0" err="1"/>
              <a:t>dapat</a:t>
            </a:r>
            <a:r>
              <a:rPr sz="2600" dirty="0"/>
              <a:t> </a:t>
            </a:r>
            <a:r>
              <a:rPr sz="2600" dirty="0" err="1"/>
              <a:t>berupa</a:t>
            </a:r>
            <a:r>
              <a:rPr sz="2600" dirty="0"/>
              <a:t> </a:t>
            </a:r>
            <a:r>
              <a:rPr sz="2600" dirty="0" err="1"/>
              <a:t>teks</a:t>
            </a:r>
            <a:r>
              <a:rPr sz="2600" dirty="0"/>
              <a:t>, </a:t>
            </a:r>
            <a:r>
              <a:rPr sz="2600" dirty="0" err="1"/>
              <a:t>angka</a:t>
            </a:r>
            <a:r>
              <a:rPr sz="2600" dirty="0"/>
              <a:t>, </a:t>
            </a:r>
            <a:r>
              <a:rPr sz="2600" dirty="0" err="1"/>
              <a:t>tanggal</a:t>
            </a:r>
            <a:r>
              <a:rPr sz="2600" dirty="0"/>
              <a:t>, </a:t>
            </a:r>
            <a:r>
              <a:rPr sz="2600" dirty="0" err="1"/>
              <a:t>gambar</a:t>
            </a:r>
            <a:r>
              <a:rPr sz="2600" dirty="0"/>
              <a:t>, </a:t>
            </a:r>
            <a:r>
              <a:rPr sz="2600" dirty="0" err="1"/>
              <a:t>dokumen</a:t>
            </a:r>
            <a:r>
              <a:rPr sz="2600" dirty="0"/>
              <a:t>, dan </a:t>
            </a:r>
            <a:r>
              <a:rPr sz="2600" dirty="0" err="1"/>
              <a:t>transaksi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Database Access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Bahasa </a:t>
            </a:r>
            <a:r>
              <a:rPr sz="2600" dirty="0" err="1"/>
              <a:t>untuk</a:t>
            </a:r>
            <a:r>
              <a:rPr sz="2600" dirty="0"/>
              <a:t> </a:t>
            </a:r>
            <a:r>
              <a:rPr sz="2600" dirty="0" err="1"/>
              <a:t>berinteraksi</a:t>
            </a:r>
            <a:r>
              <a:rPr sz="2600" dirty="0"/>
              <a:t> </a:t>
            </a:r>
            <a:r>
              <a:rPr sz="2600" dirty="0" err="1"/>
              <a:t>dengan</a:t>
            </a:r>
            <a:r>
              <a:rPr sz="2600" dirty="0"/>
              <a:t> database, </a:t>
            </a:r>
            <a:r>
              <a:rPr sz="2600" dirty="0" err="1"/>
              <a:t>terutama</a:t>
            </a:r>
            <a:r>
              <a:rPr sz="2600" dirty="0"/>
              <a:t> SQL (Structured Query Language).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DDL: CREATE, ALTER, DROP — </a:t>
            </a:r>
            <a:r>
              <a:rPr sz="2600" dirty="0" err="1"/>
              <a:t>mengelola</a:t>
            </a:r>
            <a:r>
              <a:rPr sz="2600" dirty="0"/>
              <a:t> </a:t>
            </a:r>
            <a:r>
              <a:rPr sz="2600" dirty="0" err="1"/>
              <a:t>struktur</a:t>
            </a:r>
            <a:r>
              <a:rPr sz="2600" dirty="0"/>
              <a:t>.</a:t>
            </a:r>
            <a:br>
              <a:rPr sz="2600" dirty="0"/>
            </a:br>
            <a:r>
              <a:rPr sz="2600" dirty="0"/>
              <a:t>DML: INSERT, UPDATE, DELETE — </a:t>
            </a:r>
            <a:r>
              <a:rPr sz="2600" dirty="0" err="1"/>
              <a:t>mengelola</a:t>
            </a:r>
            <a:r>
              <a:rPr sz="2600" dirty="0"/>
              <a:t> data.</a:t>
            </a:r>
            <a:br>
              <a:rPr sz="2600" dirty="0"/>
            </a:br>
            <a:r>
              <a:rPr sz="2600" dirty="0"/>
              <a:t>DQL: SELECT — </a:t>
            </a:r>
            <a:r>
              <a:rPr sz="2600" dirty="0" err="1"/>
              <a:t>mengambil</a:t>
            </a:r>
            <a:r>
              <a:rPr sz="2600" dirty="0"/>
              <a:t> data.</a:t>
            </a:r>
            <a:br>
              <a:rPr sz="2600" dirty="0"/>
            </a:br>
            <a:r>
              <a:rPr sz="2600" dirty="0"/>
              <a:t>DCL: GRANT, REVOKE — </a:t>
            </a:r>
            <a:r>
              <a:rPr sz="2600" dirty="0" err="1"/>
              <a:t>mengatur</a:t>
            </a:r>
            <a:r>
              <a:rPr sz="2600" dirty="0"/>
              <a:t> </a:t>
            </a:r>
            <a:r>
              <a:rPr sz="2600" dirty="0" err="1"/>
              <a:t>hak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.</a:t>
            </a:r>
            <a:br>
              <a:rPr sz="2600" dirty="0"/>
            </a:br>
            <a:r>
              <a:rPr sz="2600" dirty="0"/>
              <a:t>TCL: COMMIT, ROLLBACK, SAVEPOINT — </a:t>
            </a:r>
            <a:r>
              <a:rPr sz="2600" dirty="0" err="1"/>
              <a:t>mengelola</a:t>
            </a:r>
            <a:r>
              <a:rPr sz="2600" dirty="0"/>
              <a:t> </a:t>
            </a:r>
            <a:r>
              <a:rPr sz="2600" dirty="0" err="1"/>
              <a:t>transaksi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8680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Procedure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Aturan</a:t>
            </a:r>
            <a:r>
              <a:rPr sz="2600" dirty="0"/>
              <a:t> dan </a:t>
            </a:r>
            <a:r>
              <a:rPr sz="2600" dirty="0" err="1"/>
              <a:t>langkah</a:t>
            </a:r>
            <a:r>
              <a:rPr sz="2600" dirty="0"/>
              <a:t> </a:t>
            </a:r>
            <a:r>
              <a:rPr sz="2600" dirty="0" err="1"/>
              <a:t>kerja</a:t>
            </a:r>
            <a:r>
              <a:rPr sz="2600" dirty="0"/>
              <a:t> </a:t>
            </a:r>
            <a:r>
              <a:rPr sz="2600" dirty="0" err="1"/>
              <a:t>dalam</a:t>
            </a:r>
            <a:r>
              <a:rPr sz="2600" dirty="0"/>
              <a:t> </a:t>
            </a:r>
            <a:r>
              <a:rPr sz="2600" dirty="0" err="1"/>
              <a:t>pengelolaan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Contoh</a:t>
            </a:r>
            <a:r>
              <a:rPr sz="2600" dirty="0"/>
              <a:t>: </a:t>
            </a:r>
            <a:r>
              <a:rPr sz="2600" dirty="0" err="1"/>
              <a:t>prosedur</a:t>
            </a:r>
            <a:r>
              <a:rPr sz="2600" dirty="0"/>
              <a:t> backup dan restore.</a:t>
            </a:r>
            <a:br>
              <a:rPr sz="2600" dirty="0"/>
            </a:br>
            <a:r>
              <a:rPr lang="en-US" sz="2600" dirty="0"/>
              <a:t>                  </a:t>
            </a:r>
            <a:r>
              <a:rPr lang="en-US" sz="2600" dirty="0" err="1"/>
              <a:t>p</a:t>
            </a:r>
            <a:r>
              <a:rPr sz="2600" dirty="0" err="1"/>
              <a:t>rosedur</a:t>
            </a:r>
            <a:r>
              <a:rPr sz="2600" dirty="0"/>
              <a:t> </a:t>
            </a:r>
            <a:r>
              <a:rPr sz="2600" dirty="0" err="1"/>
              <a:t>pemberian</a:t>
            </a:r>
            <a:r>
              <a:rPr sz="2600" dirty="0"/>
              <a:t> </a:t>
            </a:r>
            <a:r>
              <a:rPr sz="2600" dirty="0" err="1"/>
              <a:t>hak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.</a:t>
            </a:r>
            <a:br>
              <a:rPr sz="2600" dirty="0"/>
            </a:br>
            <a:r>
              <a:rPr lang="en-US" sz="2600" dirty="0"/>
              <a:t>                  </a:t>
            </a:r>
            <a:r>
              <a:rPr lang="en-US" sz="2600" dirty="0" err="1"/>
              <a:t>p</a:t>
            </a:r>
            <a:r>
              <a:rPr sz="2600" dirty="0" err="1"/>
              <a:t>rosedur</a:t>
            </a:r>
            <a:r>
              <a:rPr sz="2600" dirty="0"/>
              <a:t> </a:t>
            </a:r>
            <a:r>
              <a:rPr sz="2600" dirty="0" err="1"/>
              <a:t>keamanan</a:t>
            </a:r>
            <a:r>
              <a:rPr sz="2600" dirty="0"/>
              <a:t> dan </a:t>
            </a:r>
            <a:r>
              <a:rPr sz="2600" dirty="0" err="1"/>
              <a:t>pemeliharaan</a:t>
            </a:r>
            <a:r>
              <a:rPr sz="2600" dirty="0"/>
              <a:t>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258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People /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Database Administrator (DBA): </a:t>
            </a:r>
            <a:r>
              <a:rPr sz="2600" dirty="0" err="1"/>
              <a:t>mengelola</a:t>
            </a:r>
            <a:r>
              <a:rPr sz="2600" dirty="0"/>
              <a:t> </a:t>
            </a:r>
            <a:r>
              <a:rPr sz="2600" dirty="0" err="1"/>
              <a:t>keamanan</a:t>
            </a:r>
            <a:r>
              <a:rPr sz="2600" dirty="0"/>
              <a:t>, backup, recovery, user, dan </a:t>
            </a:r>
            <a:r>
              <a:rPr sz="2600" dirty="0" err="1"/>
              <a:t>kinerja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Database Designer: </a:t>
            </a:r>
            <a:r>
              <a:rPr sz="2600" dirty="0" err="1"/>
              <a:t>merancang</a:t>
            </a:r>
            <a:r>
              <a:rPr sz="2600" dirty="0"/>
              <a:t> </a:t>
            </a:r>
            <a:r>
              <a:rPr sz="2600" dirty="0" err="1"/>
              <a:t>tabel</a:t>
            </a:r>
            <a:r>
              <a:rPr sz="2600" dirty="0"/>
              <a:t>, </a:t>
            </a:r>
            <a:r>
              <a:rPr sz="2600" dirty="0" err="1"/>
              <a:t>atribut</a:t>
            </a:r>
            <a:r>
              <a:rPr sz="2600" dirty="0"/>
              <a:t>, dan </a:t>
            </a:r>
            <a:r>
              <a:rPr sz="2600" dirty="0" err="1"/>
              <a:t>relasi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Application Programmer: </a:t>
            </a:r>
            <a:r>
              <a:rPr sz="2600" dirty="0" err="1"/>
              <a:t>membuat</a:t>
            </a:r>
            <a:r>
              <a:rPr sz="2600" dirty="0"/>
              <a:t> </a:t>
            </a:r>
            <a:r>
              <a:rPr sz="2600" dirty="0" err="1"/>
              <a:t>aplikasi</a:t>
            </a:r>
            <a:r>
              <a:rPr sz="2600" dirty="0"/>
              <a:t> yang </a:t>
            </a:r>
            <a:r>
              <a:rPr sz="2600" dirty="0" err="1"/>
              <a:t>terhubung</a:t>
            </a:r>
            <a:r>
              <a:rPr sz="2600" dirty="0"/>
              <a:t> </a:t>
            </a:r>
            <a:r>
              <a:rPr sz="2600" dirty="0" err="1"/>
              <a:t>dengan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End User: </a:t>
            </a:r>
            <a:r>
              <a:rPr sz="2600" dirty="0" err="1"/>
              <a:t>menggunakan</a:t>
            </a:r>
            <a:r>
              <a:rPr sz="2600" dirty="0"/>
              <a:t> </a:t>
            </a:r>
            <a:r>
              <a:rPr sz="2600" dirty="0" err="1"/>
              <a:t>aplikasi</a:t>
            </a:r>
            <a:r>
              <a:rPr sz="2600" dirty="0"/>
              <a:t> </a:t>
            </a:r>
            <a:r>
              <a:rPr sz="2600" dirty="0" err="1"/>
              <a:t>untuk</a:t>
            </a:r>
            <a:r>
              <a:rPr sz="2600" dirty="0"/>
              <a:t> </a:t>
            </a:r>
            <a:r>
              <a:rPr sz="2600" dirty="0" err="1"/>
              <a:t>mengakses</a:t>
            </a:r>
            <a:r>
              <a:rPr sz="2600" dirty="0"/>
              <a:t>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258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Komponen Internal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Query Processor — </a:t>
            </a:r>
            <a:r>
              <a:rPr sz="2600" dirty="0" err="1"/>
              <a:t>memproses</a:t>
            </a:r>
            <a:r>
              <a:rPr sz="2600" dirty="0"/>
              <a:t> dan </a:t>
            </a:r>
            <a:r>
              <a:rPr sz="2600" dirty="0" err="1"/>
              <a:t>menjalankan</a:t>
            </a:r>
            <a:r>
              <a:rPr sz="2600" dirty="0"/>
              <a:t> </a:t>
            </a:r>
            <a:r>
              <a:rPr sz="2600" dirty="0" err="1"/>
              <a:t>perintah</a:t>
            </a:r>
            <a:r>
              <a:rPr sz="2600" dirty="0"/>
              <a:t> SQL.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Storage Manager — </a:t>
            </a:r>
            <a:r>
              <a:rPr sz="2600" dirty="0" err="1"/>
              <a:t>mengatur</a:t>
            </a:r>
            <a:r>
              <a:rPr sz="2600" dirty="0"/>
              <a:t> </a:t>
            </a:r>
            <a:r>
              <a:rPr sz="2600" dirty="0" err="1"/>
              <a:t>penyimpanan</a:t>
            </a:r>
            <a:r>
              <a:rPr sz="2600" dirty="0"/>
              <a:t> dan </a:t>
            </a:r>
            <a:r>
              <a:rPr sz="2600" dirty="0" err="1"/>
              <a:t>pengambilan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Transaction Manager — </a:t>
            </a:r>
            <a:r>
              <a:rPr sz="2600" dirty="0" err="1"/>
              <a:t>mengelola</a:t>
            </a:r>
            <a:r>
              <a:rPr sz="2600" dirty="0"/>
              <a:t> </a:t>
            </a:r>
            <a:r>
              <a:rPr sz="2600" dirty="0" err="1"/>
              <a:t>transaksi</a:t>
            </a:r>
            <a:r>
              <a:rPr sz="2600" dirty="0"/>
              <a:t> agar </a:t>
            </a:r>
            <a:r>
              <a:rPr sz="2600" dirty="0" err="1"/>
              <a:t>konsisten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Buffer Manager — </a:t>
            </a:r>
            <a:r>
              <a:rPr sz="2600" dirty="0" err="1"/>
              <a:t>mengelola</a:t>
            </a:r>
            <a:r>
              <a:rPr sz="2600" dirty="0"/>
              <a:t> data </a:t>
            </a:r>
            <a:r>
              <a:rPr sz="2600" dirty="0" err="1"/>
              <a:t>sementara</a:t>
            </a:r>
            <a:r>
              <a:rPr sz="2600" dirty="0"/>
              <a:t> di </a:t>
            </a:r>
            <a:r>
              <a:rPr sz="2600" dirty="0" err="1"/>
              <a:t>memori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Security Manager — </a:t>
            </a:r>
            <a:r>
              <a:rPr sz="2600" dirty="0" err="1"/>
              <a:t>mengatur</a:t>
            </a:r>
            <a:r>
              <a:rPr sz="2600" dirty="0"/>
              <a:t> </a:t>
            </a:r>
            <a:r>
              <a:rPr sz="2600" dirty="0" err="1"/>
              <a:t>keamanan</a:t>
            </a:r>
            <a:r>
              <a:rPr sz="2600" dirty="0"/>
              <a:t> dan </a:t>
            </a:r>
            <a:r>
              <a:rPr sz="2600" dirty="0" err="1"/>
              <a:t>hak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Recovery Manager — </a:t>
            </a:r>
            <a:r>
              <a:rPr sz="2600" dirty="0" err="1"/>
              <a:t>memulihkan</a:t>
            </a:r>
            <a:r>
              <a:rPr sz="2600" dirty="0"/>
              <a:t> database </a:t>
            </a:r>
            <a:r>
              <a:rPr sz="2600" dirty="0" err="1"/>
              <a:t>saat</a:t>
            </a:r>
            <a:r>
              <a:rPr sz="2600" dirty="0"/>
              <a:t> </a:t>
            </a:r>
            <a:r>
              <a:rPr sz="2600" dirty="0" err="1"/>
              <a:t>terjadi</a:t>
            </a:r>
            <a:r>
              <a:rPr sz="2600" dirty="0"/>
              <a:t> </a:t>
            </a:r>
            <a:r>
              <a:rPr sz="2600" dirty="0" err="1"/>
              <a:t>kegagalan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258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Alur Kerja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417320"/>
            <a:ext cx="10081260" cy="4526280"/>
          </a:xfrm>
          <a:prstGeom prst="roundRect">
            <a:avLst/>
          </a:prstGeom>
          <a:solidFill>
            <a:srgbClr val="F1F6FC"/>
          </a:solidFill>
          <a:ln>
            <a:solidFill>
              <a:srgbClr val="D2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746"/>
                </a:solidFill>
              </a:defRPr>
            </a:pPr>
            <a:r>
              <a:rPr sz="2600" dirty="0"/>
              <a:t>User / Application</a:t>
            </a:r>
            <a:br>
              <a:rPr sz="2600" dirty="0"/>
            </a:br>
            <a:r>
              <a:rPr sz="2600" dirty="0"/>
              <a:t>↓</a:t>
            </a:r>
            <a:br>
              <a:rPr sz="2600" dirty="0"/>
            </a:br>
            <a:r>
              <a:rPr sz="2600" dirty="0"/>
              <a:t>SQL / Database Access Language</a:t>
            </a:r>
            <a:br>
              <a:rPr sz="2600" dirty="0"/>
            </a:br>
            <a:r>
              <a:rPr sz="2600" dirty="0"/>
              <a:t>↓</a:t>
            </a:r>
            <a:br>
              <a:rPr sz="2600" dirty="0"/>
            </a:br>
            <a:r>
              <a:rPr sz="2600" dirty="0"/>
              <a:t>Query Processor</a:t>
            </a:r>
            <a:br>
              <a:rPr sz="2600" dirty="0"/>
            </a:br>
            <a:r>
              <a:rPr sz="2600" dirty="0"/>
              <a:t>↓</a:t>
            </a:r>
            <a:br>
              <a:rPr sz="2600" dirty="0"/>
            </a:br>
            <a:r>
              <a:rPr sz="2600" dirty="0"/>
              <a:t>Transaction &amp; Security Manager</a:t>
            </a:r>
            <a:br>
              <a:rPr sz="2600" dirty="0"/>
            </a:br>
            <a:r>
              <a:rPr sz="2600" dirty="0"/>
              <a:t>↓</a:t>
            </a:r>
            <a:br>
              <a:rPr sz="2600" dirty="0"/>
            </a:br>
            <a:r>
              <a:rPr sz="2600" dirty="0"/>
              <a:t>Storage Manager</a:t>
            </a:r>
            <a:br>
              <a:rPr sz="2600" dirty="0"/>
            </a:br>
            <a:r>
              <a:rPr sz="2600" dirty="0"/>
              <a:t>↓</a:t>
            </a:r>
            <a:br>
              <a:rPr sz="2600" dirty="0"/>
            </a:br>
            <a:r>
              <a:rPr sz="2600" dirty="0"/>
              <a:t>Database / Data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258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Fungsi Utama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24712"/>
            <a:ext cx="10561320" cy="5047488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 Storage — </a:t>
            </a:r>
            <a:r>
              <a:rPr sz="2600" dirty="0" err="1"/>
              <a:t>menyimpan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 Retrieval — </a:t>
            </a:r>
            <a:r>
              <a:rPr sz="2600" dirty="0" err="1"/>
              <a:t>mengambil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 Manipulation — </a:t>
            </a:r>
            <a:r>
              <a:rPr sz="2600" dirty="0" err="1"/>
              <a:t>menambah</a:t>
            </a:r>
            <a:r>
              <a:rPr sz="2600" dirty="0"/>
              <a:t>, </a:t>
            </a:r>
            <a:r>
              <a:rPr sz="2600" dirty="0" err="1"/>
              <a:t>mengubah</a:t>
            </a:r>
            <a:r>
              <a:rPr sz="2600" dirty="0"/>
              <a:t>, </a:t>
            </a:r>
            <a:r>
              <a:rPr sz="2600" dirty="0" err="1"/>
              <a:t>menghapus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 Security — </a:t>
            </a:r>
            <a:r>
              <a:rPr sz="2600" dirty="0" err="1"/>
              <a:t>melindungi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Data Integrity — </a:t>
            </a:r>
            <a:r>
              <a:rPr sz="2600" dirty="0" err="1"/>
              <a:t>menjaga</a:t>
            </a:r>
            <a:r>
              <a:rPr sz="2600" dirty="0"/>
              <a:t> </a:t>
            </a:r>
            <a:r>
              <a:rPr sz="2600" dirty="0" err="1"/>
              <a:t>konsistensi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Concurrency Control — </a:t>
            </a:r>
            <a:r>
              <a:rPr sz="2600" dirty="0" err="1"/>
              <a:t>mengatur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 </a:t>
            </a:r>
            <a:r>
              <a:rPr sz="2600" dirty="0" err="1"/>
              <a:t>bersamaan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Backup &amp; Recovery — </a:t>
            </a:r>
            <a:r>
              <a:rPr sz="2600" dirty="0" err="1"/>
              <a:t>mencadangkan</a:t>
            </a:r>
            <a:r>
              <a:rPr sz="2600" dirty="0"/>
              <a:t> dan </a:t>
            </a:r>
            <a:r>
              <a:rPr sz="2600" dirty="0" err="1"/>
              <a:t>memulihkan</a:t>
            </a:r>
            <a:r>
              <a:rPr sz="2600" dirty="0"/>
              <a:t> data.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Transaction Management — </a:t>
            </a:r>
            <a:r>
              <a:rPr sz="2600" dirty="0" err="1"/>
              <a:t>mengelola</a:t>
            </a:r>
            <a:r>
              <a:rPr sz="2600" dirty="0"/>
              <a:t> </a:t>
            </a:r>
            <a:r>
              <a:rPr sz="2600" dirty="0" err="1"/>
              <a:t>transaksi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8030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Contoh Penerapan: Sistem Akademik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DBMS </a:t>
            </a:r>
            <a:r>
              <a:rPr sz="2600" dirty="0" err="1"/>
              <a:t>digunakan</a:t>
            </a:r>
            <a:r>
              <a:rPr sz="2600" dirty="0"/>
              <a:t> </a:t>
            </a:r>
            <a:r>
              <a:rPr sz="2600" dirty="0" err="1"/>
              <a:t>untuk</a:t>
            </a:r>
            <a:r>
              <a:rPr sz="2600" dirty="0"/>
              <a:t> </a:t>
            </a:r>
            <a:r>
              <a:rPr sz="2600" dirty="0" err="1"/>
              <a:t>mengelola</a:t>
            </a:r>
            <a:r>
              <a:rPr sz="2600" dirty="0"/>
              <a:t> data </a:t>
            </a:r>
            <a:r>
              <a:rPr sz="2600" dirty="0" err="1"/>
              <a:t>mahasiswa</a:t>
            </a:r>
            <a:r>
              <a:rPr sz="2600" dirty="0"/>
              <a:t>, </a:t>
            </a:r>
            <a:r>
              <a:rPr sz="2600" dirty="0" err="1"/>
              <a:t>dosen</a:t>
            </a:r>
            <a:r>
              <a:rPr sz="2600" dirty="0"/>
              <a:t>, </a:t>
            </a:r>
            <a:r>
              <a:rPr sz="2600" dirty="0" err="1"/>
              <a:t>mata</a:t>
            </a:r>
            <a:r>
              <a:rPr sz="2600" dirty="0"/>
              <a:t> </a:t>
            </a:r>
            <a:r>
              <a:rPr sz="2600" dirty="0" err="1"/>
              <a:t>kuliah</a:t>
            </a:r>
            <a:r>
              <a:rPr sz="2600" dirty="0"/>
              <a:t>, KRS, </a:t>
            </a:r>
            <a:r>
              <a:rPr sz="2600" dirty="0" err="1"/>
              <a:t>jadwal</a:t>
            </a:r>
            <a:r>
              <a:rPr sz="2600" dirty="0"/>
              <a:t>, dan </a:t>
            </a:r>
            <a:r>
              <a:rPr sz="2600" dirty="0" err="1"/>
              <a:t>nilai</a:t>
            </a:r>
            <a:r>
              <a:rPr sz="2600" dirty="0"/>
              <a:t>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Saat </a:t>
            </a:r>
            <a:r>
              <a:rPr sz="2600" dirty="0" err="1"/>
              <a:t>mahasiswa</a:t>
            </a:r>
            <a:r>
              <a:rPr sz="2600" dirty="0"/>
              <a:t> </a:t>
            </a:r>
            <a:r>
              <a:rPr sz="2600" dirty="0" err="1"/>
              <a:t>mengisi</a:t>
            </a:r>
            <a:r>
              <a:rPr sz="2600" dirty="0"/>
              <a:t> KRS, </a:t>
            </a:r>
            <a:r>
              <a:rPr sz="2600" dirty="0" err="1"/>
              <a:t>aplikasi</a:t>
            </a:r>
            <a:r>
              <a:rPr sz="2600" dirty="0"/>
              <a:t> </a:t>
            </a:r>
            <a:r>
              <a:rPr sz="2600" dirty="0" err="1"/>
              <a:t>mengirimkan</a:t>
            </a:r>
            <a:r>
              <a:rPr sz="2600" dirty="0"/>
              <a:t> query </a:t>
            </a:r>
            <a:r>
              <a:rPr sz="2600" dirty="0" err="1"/>
              <a:t>ke</a:t>
            </a:r>
            <a:r>
              <a:rPr sz="2600" dirty="0"/>
              <a:t> DBMS.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DBMS </a:t>
            </a:r>
            <a:r>
              <a:rPr sz="2600" dirty="0" err="1"/>
              <a:t>memeriksa</a:t>
            </a:r>
            <a:r>
              <a:rPr sz="2600" dirty="0"/>
              <a:t> </a:t>
            </a:r>
            <a:r>
              <a:rPr sz="2600" dirty="0" err="1"/>
              <a:t>hak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, </a:t>
            </a:r>
            <a:r>
              <a:rPr sz="2600" dirty="0" err="1"/>
              <a:t>memproses</a:t>
            </a:r>
            <a:r>
              <a:rPr sz="2600" dirty="0"/>
              <a:t> query, </a:t>
            </a:r>
            <a:r>
              <a:rPr sz="2600" dirty="0" err="1"/>
              <a:t>menyimpan</a:t>
            </a:r>
            <a:r>
              <a:rPr sz="2600" dirty="0"/>
              <a:t> </a:t>
            </a:r>
            <a:r>
              <a:rPr sz="2600" dirty="0" err="1"/>
              <a:t>transaksi</a:t>
            </a:r>
            <a:r>
              <a:rPr sz="2600" dirty="0"/>
              <a:t>, dan </a:t>
            </a:r>
            <a:r>
              <a:rPr sz="2600" dirty="0" err="1"/>
              <a:t>memperbarui</a:t>
            </a:r>
            <a:r>
              <a:rPr sz="2600" dirty="0"/>
              <a:t>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258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Studi Kasus Singkat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Sebuah</a:t>
            </a:r>
            <a:r>
              <a:rPr sz="2600" dirty="0"/>
              <a:t> </a:t>
            </a:r>
            <a:r>
              <a:rPr sz="2600" dirty="0" err="1"/>
              <a:t>sistem</a:t>
            </a:r>
            <a:r>
              <a:rPr sz="2600" dirty="0"/>
              <a:t> </a:t>
            </a:r>
            <a:r>
              <a:rPr sz="2600" dirty="0" err="1"/>
              <a:t>akademik</a:t>
            </a:r>
            <a:r>
              <a:rPr sz="2600" dirty="0"/>
              <a:t> </a:t>
            </a:r>
            <a:r>
              <a:rPr sz="2600" dirty="0" err="1"/>
              <a:t>digunakan</a:t>
            </a:r>
            <a:r>
              <a:rPr sz="2600" dirty="0"/>
              <a:t> oleh </a:t>
            </a:r>
            <a:r>
              <a:rPr sz="2600" dirty="0" err="1"/>
              <a:t>banyak</a:t>
            </a:r>
            <a:r>
              <a:rPr sz="2600" dirty="0"/>
              <a:t> </a:t>
            </a:r>
            <a:r>
              <a:rPr sz="2600" dirty="0" err="1"/>
              <a:t>mahasiswa</a:t>
            </a:r>
            <a:r>
              <a:rPr sz="2600" dirty="0"/>
              <a:t> </a:t>
            </a:r>
            <a:r>
              <a:rPr sz="2600" dirty="0" err="1"/>
              <a:t>secara</a:t>
            </a:r>
            <a:r>
              <a:rPr sz="2600" dirty="0"/>
              <a:t> </a:t>
            </a:r>
            <a:r>
              <a:rPr sz="2600" dirty="0" err="1"/>
              <a:t>bersamaan</a:t>
            </a:r>
            <a:r>
              <a:rPr sz="2600" dirty="0"/>
              <a:t>.</a:t>
            </a:r>
            <a:br>
              <a:rPr sz="2600" dirty="0"/>
            </a:br>
            <a:r>
              <a:rPr sz="2600" dirty="0" err="1"/>
              <a:t>Pertanyaan</a:t>
            </a:r>
            <a:r>
              <a:rPr sz="2600" dirty="0"/>
              <a:t>:</a:t>
            </a:r>
            <a:br>
              <a:rPr sz="2600" dirty="0"/>
            </a:br>
            <a:r>
              <a:rPr sz="2600" dirty="0"/>
              <a:t>• </a:t>
            </a:r>
            <a:r>
              <a:rPr sz="2600" dirty="0" err="1"/>
              <a:t>Komponen</a:t>
            </a:r>
            <a:r>
              <a:rPr sz="2600" dirty="0"/>
              <a:t> </a:t>
            </a:r>
            <a:r>
              <a:rPr sz="2600" dirty="0" err="1"/>
              <a:t>apa</a:t>
            </a:r>
            <a:r>
              <a:rPr sz="2600" dirty="0"/>
              <a:t> yang </a:t>
            </a:r>
            <a:r>
              <a:rPr sz="2600" dirty="0" err="1"/>
              <a:t>mengatur</a:t>
            </a:r>
            <a:r>
              <a:rPr sz="2600" dirty="0"/>
              <a:t> </a:t>
            </a:r>
            <a:r>
              <a:rPr sz="2600" dirty="0" err="1"/>
              <a:t>hak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?</a:t>
            </a:r>
            <a:br>
              <a:rPr sz="2600" dirty="0"/>
            </a:br>
            <a:r>
              <a:rPr sz="2600" dirty="0"/>
              <a:t>• </a:t>
            </a:r>
            <a:r>
              <a:rPr sz="2600" dirty="0" err="1"/>
              <a:t>Komponen</a:t>
            </a:r>
            <a:r>
              <a:rPr sz="2600" dirty="0"/>
              <a:t> </a:t>
            </a:r>
            <a:r>
              <a:rPr sz="2600" dirty="0" err="1"/>
              <a:t>apa</a:t>
            </a:r>
            <a:r>
              <a:rPr sz="2600" dirty="0"/>
              <a:t> yang </a:t>
            </a:r>
            <a:r>
              <a:rPr sz="2600" dirty="0" err="1"/>
              <a:t>memproses</a:t>
            </a:r>
            <a:r>
              <a:rPr sz="2600" dirty="0"/>
              <a:t> SQL?</a:t>
            </a:r>
            <a:br>
              <a:rPr sz="2600" dirty="0"/>
            </a:br>
            <a:r>
              <a:rPr sz="2600" dirty="0"/>
              <a:t>• </a:t>
            </a:r>
            <a:r>
              <a:rPr sz="2600" dirty="0" err="1"/>
              <a:t>Komponen</a:t>
            </a:r>
            <a:r>
              <a:rPr sz="2600" dirty="0"/>
              <a:t> </a:t>
            </a:r>
            <a:r>
              <a:rPr sz="2600" dirty="0" err="1"/>
              <a:t>apa</a:t>
            </a:r>
            <a:r>
              <a:rPr sz="2600" dirty="0"/>
              <a:t> yang </a:t>
            </a:r>
            <a:r>
              <a:rPr sz="2600" dirty="0" err="1"/>
              <a:t>menangani</a:t>
            </a:r>
            <a:r>
              <a:rPr sz="2600" dirty="0"/>
              <a:t> </a:t>
            </a:r>
            <a:r>
              <a:rPr sz="2600" dirty="0" err="1"/>
              <a:t>pemulihan</a:t>
            </a:r>
            <a:r>
              <a:rPr sz="2600" dirty="0"/>
              <a:t> </a:t>
            </a:r>
            <a:r>
              <a:rPr sz="2600" dirty="0" err="1"/>
              <a:t>setelah</a:t>
            </a:r>
            <a:r>
              <a:rPr sz="2600" dirty="0"/>
              <a:t> server </a:t>
            </a:r>
            <a:r>
              <a:rPr sz="2600" dirty="0" err="1"/>
              <a:t>gagal</a:t>
            </a:r>
            <a:r>
              <a:rPr sz="2600" dirty="0"/>
              <a:t>?</a:t>
            </a:r>
            <a:br>
              <a:rPr sz="2600" dirty="0"/>
            </a:br>
            <a:r>
              <a:rPr sz="2600" dirty="0"/>
              <a:t>• </a:t>
            </a:r>
            <a:r>
              <a:rPr sz="2600" dirty="0" err="1"/>
              <a:t>Mengapa</a:t>
            </a:r>
            <a:r>
              <a:rPr sz="2600" dirty="0"/>
              <a:t> transaction manager </a:t>
            </a:r>
            <a:r>
              <a:rPr sz="2600" dirty="0" err="1"/>
              <a:t>diperlukan</a:t>
            </a:r>
            <a:r>
              <a:rPr sz="2600" dirty="0"/>
              <a:t>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1A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502920"/>
            <a:ext cx="91440" cy="5440680"/>
          </a:xfrm>
          <a:prstGeom prst="rect">
            <a:avLst/>
          </a:prstGeom>
          <a:solidFill>
            <a:srgbClr val="23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92580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482"/>
                </a:solidFill>
              </a:defRPr>
            </a:pPr>
            <a:r>
              <a:rPr dirty="0"/>
              <a:t>BASIS DATA  •  KOMPONEN DBMS                                    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2746"/>
                </a:solidFill>
                <a:latin typeface="Aptos Display"/>
              </a:defRPr>
            </a:pPr>
            <a:r>
              <a:t>Kesimpulan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4754880"/>
          </a:xfrm>
          <a:prstGeom prst="roundRect">
            <a:avLst/>
          </a:prstGeom>
          <a:solidFill>
            <a:srgbClr val="F1F6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47472" tIns="256032" rtlCol="0" anchor="ctr"/>
          <a:lstStyle/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/>
              <a:t>DBMS </a:t>
            </a:r>
            <a:r>
              <a:rPr sz="2600" dirty="0" err="1"/>
              <a:t>menghubungkan</a:t>
            </a:r>
            <a:r>
              <a:rPr sz="2600" dirty="0"/>
              <a:t> </a:t>
            </a:r>
            <a:r>
              <a:rPr sz="2600" dirty="0" err="1"/>
              <a:t>pengguna</a:t>
            </a:r>
            <a:r>
              <a:rPr sz="2600" dirty="0"/>
              <a:t>/</a:t>
            </a:r>
            <a:r>
              <a:rPr sz="2600" dirty="0" err="1"/>
              <a:t>aplikasi</a:t>
            </a:r>
            <a:r>
              <a:rPr sz="2600" dirty="0"/>
              <a:t> </a:t>
            </a:r>
            <a:r>
              <a:rPr sz="2600" dirty="0" err="1"/>
              <a:t>dengan</a:t>
            </a:r>
            <a:r>
              <a:rPr sz="2600" dirty="0"/>
              <a:t> database.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Komponen</a:t>
            </a:r>
            <a:r>
              <a:rPr sz="2600" dirty="0"/>
              <a:t> </a:t>
            </a:r>
            <a:r>
              <a:rPr sz="2600" dirty="0" err="1"/>
              <a:t>utama</a:t>
            </a:r>
            <a:r>
              <a:rPr sz="2600" dirty="0"/>
              <a:t> </a:t>
            </a:r>
            <a:r>
              <a:rPr sz="2600" dirty="0" err="1"/>
              <a:t>meliputi</a:t>
            </a:r>
            <a:r>
              <a:rPr sz="2600" dirty="0"/>
              <a:t> hardware, software, database, data, </a:t>
            </a:r>
            <a:r>
              <a:rPr sz="2600" dirty="0" err="1"/>
              <a:t>bahasa</a:t>
            </a:r>
            <a:r>
              <a:rPr sz="2600" dirty="0"/>
              <a:t> </a:t>
            </a:r>
            <a:r>
              <a:rPr sz="2600" dirty="0" err="1"/>
              <a:t>akses</a:t>
            </a:r>
            <a:r>
              <a:rPr sz="2600" dirty="0"/>
              <a:t>, procedure, dan users.</a:t>
            </a:r>
            <a:endParaRPr lang="en-US" sz="2600" dirty="0"/>
          </a:p>
          <a:p>
            <a:pPr marL="514350" indent="-514350">
              <a:spcAft>
                <a:spcPts val="1300"/>
              </a:spcAft>
              <a:buFont typeface="+mj-lt"/>
              <a:buAutoNum type="arabicPeriod"/>
              <a:defRPr sz="1500">
                <a:solidFill>
                  <a:srgbClr val="232D3A"/>
                </a:solidFill>
                <a:latin typeface="Aptos"/>
              </a:defRPr>
            </a:pPr>
            <a:r>
              <a:rPr sz="2600" dirty="0" err="1"/>
              <a:t>Komponen</a:t>
            </a:r>
            <a:r>
              <a:rPr sz="2600" dirty="0"/>
              <a:t> internal </a:t>
            </a:r>
            <a:r>
              <a:rPr sz="2600" dirty="0" err="1"/>
              <a:t>seperti</a:t>
            </a:r>
            <a:r>
              <a:rPr sz="2600" dirty="0"/>
              <a:t> query processor, storage manager, security manager, transaction manager, dan recovery manager </a:t>
            </a:r>
            <a:r>
              <a:rPr sz="2600" dirty="0" err="1"/>
              <a:t>memastikan</a:t>
            </a:r>
            <a:r>
              <a:rPr sz="2600" dirty="0"/>
              <a:t> database </a:t>
            </a:r>
            <a:r>
              <a:rPr sz="2600" dirty="0" err="1"/>
              <a:t>aman</a:t>
            </a:r>
            <a:r>
              <a:rPr sz="2600" dirty="0"/>
              <a:t>, </a:t>
            </a:r>
            <a:r>
              <a:rPr sz="2600" dirty="0" err="1"/>
              <a:t>konsisten</a:t>
            </a:r>
            <a:r>
              <a:rPr sz="2600" dirty="0"/>
              <a:t>, dan </a:t>
            </a:r>
            <a:r>
              <a:rPr sz="2600" dirty="0" err="1"/>
              <a:t>efisien</a:t>
            </a:r>
            <a:r>
              <a:rPr sz="26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821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Linda Perdana Wanti</cp:lastModifiedBy>
  <cp:revision>3</cp:revision>
  <dcterms:created xsi:type="dcterms:W3CDTF">2013-01-27T09:14:16Z</dcterms:created>
  <dcterms:modified xsi:type="dcterms:W3CDTF">2026-09-09T03:22:24Z</dcterms:modified>
  <cp:category/>
</cp:coreProperties>
</file>