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76" r:id="rId4"/>
    <p:sldId id="260" r:id="rId5"/>
    <p:sldId id="261" r:id="rId6"/>
    <p:sldId id="269" r:id="rId7"/>
    <p:sldId id="271" r:id="rId8"/>
    <p:sldId id="268" r:id="rId9"/>
    <p:sldId id="262" r:id="rId10"/>
    <p:sldId id="270" r:id="rId11"/>
    <p:sldId id="263" r:id="rId12"/>
    <p:sldId id="272" r:id="rId13"/>
    <p:sldId id="273" r:id="rId14"/>
    <p:sldId id="274" r:id="rId15"/>
    <p:sldId id="265" r:id="rId16"/>
    <p:sldId id="264" r:id="rId17"/>
    <p:sldId id="266" r:id="rId18"/>
    <p:sldId id="267" r:id="rId19"/>
    <p:sldId id="259" r:id="rId20"/>
    <p:sldId id="275" r:id="rId21"/>
    <p:sldId id="277" r:id="rId22"/>
    <p:sldId id="278" r:id="rId23"/>
    <p:sldId id="258" r:id="rId24"/>
  </p:sldIdLst>
  <p:sldSz cx="9144000" cy="6858000" type="screen4x3"/>
  <p:notesSz cx="6858000" cy="9144000"/>
  <p:defaultTextStyle>
    <a:defPPr>
      <a:defRPr lang="es-E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ECFF"/>
    <a:srgbClr val="FFFFCC"/>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3543"/>
    <p:restoredTop sz="94652"/>
  </p:normalViewPr>
  <p:slideViewPr>
    <p:cSldViewPr showGuides="1">
      <p:cViewPr varScale="1">
        <p:scale>
          <a:sx n="65" d="100"/>
          <a:sy n="65" d="100"/>
        </p:scale>
        <p:origin x="-636" y="-1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s-ES"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s-ES"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s-ES" dirty="0">
                <a:latin typeface="Arial" panose="020B0604020202020204" pitchFamily="34" charset="0"/>
              </a:rPr>
            </a:fld>
            <a:endParaRPr lang="es-ES" dirty="0">
              <a:latin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s-ES"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s-ES"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s-ES" dirty="0">
                <a:latin typeface="Arial" panose="020B0604020202020204" pitchFamily="34" charset="0"/>
              </a:rPr>
            </a:fld>
            <a:endParaRPr lang="es-ES" dirty="0">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s-ES"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s-ES"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s-ES" dirty="0">
                <a:latin typeface="Arial" panose="020B0604020202020204" pitchFamily="34" charset="0"/>
              </a:rPr>
            </a:fld>
            <a:endParaRPr lang="es-ES" dirty="0">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s-ES"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s-ES"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s-ES" dirty="0">
                <a:latin typeface="Arial" panose="020B0604020202020204" pitchFamily="34" charset="0"/>
              </a:rPr>
            </a:fld>
            <a:endParaRPr lang="es-ES"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s-ES"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8" name="Footer Placeholder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s-ES"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9" name="Slide Number Placeholder 8"/>
          <p:cNvSpPr>
            <a:spLocks noGrp="1"/>
          </p:cNvSpPr>
          <p:nvPr>
            <p:ph type="sldNum" sz="quarter" idx="12"/>
          </p:nvPr>
        </p:nvSpPr>
        <p:spPr/>
        <p:txBody>
          <a:bodyPr/>
          <a:p>
            <a:pPr lvl="0" eaLnBrk="1" hangingPunct="1">
              <a:buNone/>
            </a:pPr>
            <a:fld id="{9A0DB2DC-4C9A-4742-B13C-FB6460FD3503}" type="slidenum">
              <a:rPr lang="es-ES" dirty="0">
                <a:latin typeface="Arial" panose="020B0604020202020204" pitchFamily="34" charset="0"/>
              </a:rPr>
            </a:fld>
            <a:endParaRPr lang="es-ES"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s-ES"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4" name="Footer Placeholder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s-ES"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5" name="Slide Number Placeholder 4"/>
          <p:cNvSpPr>
            <a:spLocks noGrp="1"/>
          </p:cNvSpPr>
          <p:nvPr>
            <p:ph type="sldNum" sz="quarter" idx="12"/>
          </p:nvPr>
        </p:nvSpPr>
        <p:spPr/>
        <p:txBody>
          <a:bodyPr/>
          <a:p>
            <a:pPr lvl="0" eaLnBrk="1" hangingPunct="1">
              <a:buNone/>
            </a:pPr>
            <a:fld id="{9A0DB2DC-4C9A-4742-B13C-FB6460FD3503}" type="slidenum">
              <a:rPr lang="es-ES" dirty="0">
                <a:latin typeface="Arial" panose="020B0604020202020204" pitchFamily="34" charset="0"/>
              </a:rPr>
            </a:fld>
            <a:endParaRPr lang="es-ES" dirty="0">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s-ES"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3" name="Footer Placeholder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s-ES"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12"/>
          </p:nvPr>
        </p:nvSpPr>
        <p:spPr/>
        <p:txBody>
          <a:bodyPr/>
          <a:p>
            <a:pPr lvl="0" eaLnBrk="1" hangingPunct="1">
              <a:buNone/>
            </a:pPr>
            <a:fld id="{9A0DB2DC-4C9A-4742-B13C-FB6460FD3503}" type="slidenum">
              <a:rPr lang="es-ES" dirty="0">
                <a:latin typeface="Arial" panose="020B0604020202020204" pitchFamily="34" charset="0"/>
              </a:rPr>
            </a:fld>
            <a:endParaRPr lang="es-ES"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s-ES"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s-ES"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s-ES" dirty="0">
                <a:latin typeface="Arial" panose="020B0604020202020204" pitchFamily="34" charset="0"/>
              </a:rPr>
            </a:fld>
            <a:endParaRPr lang="es-ES" dirty="0">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s-ES"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s-ES"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s-ES" dirty="0">
                <a:latin typeface="Arial" panose="020B0604020202020204" pitchFamily="34" charset="0"/>
              </a:rPr>
            </a:fld>
            <a:endParaRPr lang="es-ES" dirty="0">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s-ES"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s-ES"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s-ES" dirty="0">
                <a:latin typeface="Arial" panose="020B0604020202020204" pitchFamily="34" charset="0"/>
              </a:rPr>
            </a:fld>
            <a:endParaRPr lang="es-ES"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s-ES"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s-ES"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s-ES" dirty="0">
                <a:latin typeface="Arial" panose="020B0604020202020204" pitchFamily="34" charset="0"/>
              </a:rPr>
            </a:fld>
            <a:endParaRPr lang="es-ES" dirty="0">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p:sp>
        <p:nvSpPr>
          <p:cNvPr id="1026" name="Rectangle 2"/>
          <p:cNvSpPr>
            <a:spLocks noGrp="1"/>
          </p:cNvSpPr>
          <p:nvPr>
            <p:ph type="title"/>
          </p:nvPr>
        </p:nvSpPr>
        <p:spPr>
          <a:xfrm>
            <a:off x="457200" y="274638"/>
            <a:ext cx="8229600" cy="1143000"/>
          </a:xfrm>
          <a:prstGeom prst="rect">
            <a:avLst/>
          </a:prstGeom>
          <a:noFill/>
          <a:ln w="9525">
            <a:noFill/>
          </a:ln>
        </p:spPr>
        <p:txBody>
          <a:bodyPr anchor="ctr" anchorCtr="0"/>
          <a:p>
            <a:pPr lvl="0"/>
            <a:r>
              <a:rPr dirty="0"/>
              <a:t>Haga clic para cambiar el estilo de título	</a:t>
            </a:r>
            <a:endParaRPr dirty="0"/>
          </a:p>
        </p:txBody>
      </p:sp>
      <p:sp>
        <p:nvSpPr>
          <p:cNvPr id="1027" name="Rectangle 3"/>
          <p:cNvSpPr>
            <a:spLocks noGrp="1"/>
          </p:cNvSpPr>
          <p:nvPr>
            <p:ph type="body" idx="1"/>
          </p:nvPr>
        </p:nvSpPr>
        <p:spPr>
          <a:xfrm>
            <a:off x="457200" y="1600200"/>
            <a:ext cx="8229600" cy="4525963"/>
          </a:xfrm>
          <a:prstGeom prst="rect">
            <a:avLst/>
          </a:prstGeom>
          <a:noFill/>
          <a:ln w="9525">
            <a:noFill/>
          </a:ln>
        </p:spPr>
        <p:txBody>
          <a:bodyPr/>
          <a:p>
            <a:pPr lvl="0"/>
            <a:r>
              <a:rPr dirty="0"/>
              <a:t>Haga clic para modificar el estilo de texto del patrón</a:t>
            </a:r>
            <a:endParaRPr dirty="0"/>
          </a:p>
          <a:p>
            <a:pPr lvl="1"/>
            <a:r>
              <a:rPr dirty="0"/>
              <a:t>Segundo nivel</a:t>
            </a:r>
            <a:endParaRPr dirty="0"/>
          </a:p>
          <a:p>
            <a:pPr lvl="2"/>
            <a:r>
              <a:rPr dirty="0"/>
              <a:t>Tercer nivel</a:t>
            </a:r>
            <a:endParaRPr dirty="0"/>
          </a:p>
          <a:p>
            <a:pPr lvl="3"/>
            <a:r>
              <a:rPr dirty="0"/>
              <a:t>Cuarto nivel</a:t>
            </a:r>
            <a:endParaRPr dirty="0"/>
          </a:p>
          <a:p>
            <a:pPr lvl="4"/>
            <a:r>
              <a:rPr dirty="0"/>
              <a:t>Quinto nivel</a:t>
            </a:r>
            <a:endParaRPr dirty="0"/>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t" anchorCtr="0" compatLnSpc="1"/>
          <a:lstStyle>
            <a:lvl1pPr>
              <a:defRPr sz="14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s-ES"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a:defRPr sz="14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s-ES"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sz="1400"/>
            </a:lvl1pPr>
          </a:lstStyle>
          <a:p>
            <a:pPr lvl="0" eaLnBrk="1" hangingPunct="1">
              <a:buNone/>
            </a:pPr>
            <a:fld id="{9A0DB2DC-4C9A-4742-B13C-FB6460FD3503}" type="slidenum">
              <a:rPr lang="es-ES" dirty="0">
                <a:latin typeface="Arial" panose="020B0604020202020204" pitchFamily="34" charset="0"/>
              </a:rPr>
            </a:fld>
            <a:endParaRPr lang="es-E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eaLnBrk="0" fontAlgn="base" hangingPunct="0">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eaLnBrk="0" fontAlgn="base" hangingPunct="0">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eaLnBrk="0" fontAlgn="base" hangingPunct="0">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2050" name="Rectangle 25"/>
          <p:cNvSpPr>
            <a:spLocks noGrp="1"/>
          </p:cNvSpPr>
          <p:nvPr>
            <p:ph type="ctrTitle"/>
          </p:nvPr>
        </p:nvSpPr>
        <p:spPr>
          <a:xfrm>
            <a:off x="3143250" y="2349500"/>
            <a:ext cx="6000750" cy="1943100"/>
          </a:xfrm>
          <a:ln/>
        </p:spPr>
        <p:txBody>
          <a:bodyPr vert="horz" wrap="square" lIns="91440" tIns="45720" rIns="91440" bIns="45720" anchor="ctr" anchorCtr="0"/>
          <a:p>
            <a:pPr eaLnBrk="1" hangingPunct="1">
              <a:buClrTx/>
              <a:buSzTx/>
              <a:buFontTx/>
            </a:pPr>
            <a:r>
              <a:rPr lang="es-UY" altLang="x-none" sz="4000" dirty="0">
                <a:solidFill>
                  <a:schemeClr val="tx1"/>
                </a:solidFill>
              </a:rPr>
              <a:t>PENGANTAR BASIS DATA</a:t>
            </a:r>
            <a:endParaRPr sz="4000"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txBox="1"/>
          <p:nvPr/>
        </p:nvSpPr>
        <p:spPr>
          <a:xfrm>
            <a:off x="457200" y="246063"/>
            <a:ext cx="8229600" cy="868363"/>
          </a:xfrm>
          <a:prstGeom prst="rect">
            <a:avLst/>
          </a:prstGeom>
        </p:spPr>
        <p:txBody>
          <a:bodyPr anchor="ctr"/>
          <a:lstStyle/>
          <a:p>
            <a:pPr marR="0" defTabSz="914400" eaLnBrk="0" hangingPunct="0">
              <a:buClrTx/>
              <a:buSzTx/>
              <a:buFontTx/>
              <a:buNone/>
              <a:defRPr/>
            </a:pPr>
            <a:r>
              <a:rPr kumimoji="0" lang="en-US" sz="3200" kern="0" cap="none" spc="0" normalizeH="0" baseline="0" noProof="0" dirty="0">
                <a:solidFill>
                  <a:srgbClr val="FFFFCC"/>
                </a:solidFill>
                <a:latin typeface="+mj-lt"/>
                <a:ea typeface="+mj-ea"/>
                <a:cs typeface="+mj-cs"/>
              </a:rPr>
              <a:t>Outline</a:t>
            </a:r>
            <a:endParaRPr kumimoji="0" lang="en-US" sz="3200" kern="0" cap="none" spc="0" normalizeH="0" baseline="0" noProof="0" dirty="0">
              <a:solidFill>
                <a:srgbClr val="FFFFCC"/>
              </a:solidFill>
              <a:latin typeface="+mj-lt"/>
              <a:ea typeface="+mj-ea"/>
              <a:cs typeface="+mj-cs"/>
            </a:endParaRPr>
          </a:p>
        </p:txBody>
      </p:sp>
      <p:sp>
        <p:nvSpPr>
          <p:cNvPr id="3" name="Rectangle 3"/>
          <p:cNvSpPr txBox="1">
            <a:spLocks noChangeArrowheads="1"/>
          </p:cNvSpPr>
          <p:nvPr/>
        </p:nvSpPr>
        <p:spPr>
          <a:xfrm>
            <a:off x="285750" y="1071563"/>
            <a:ext cx="8358188" cy="4143375"/>
          </a:xfrm>
          <a:prstGeom prst="rect">
            <a:avLst/>
          </a:prstGeom>
        </p:spPr>
        <p:txBody>
          <a:bodyPr/>
          <a:lstStyle/>
          <a:p>
            <a:pPr marL="342900" marR="0" indent="-342900" algn="just" defTabSz="914400" eaLnBrk="0" hangingPunct="0">
              <a:spcBef>
                <a:spcPct val="20000"/>
              </a:spcBef>
              <a:buClrTx/>
              <a:buSzTx/>
              <a:buFont typeface="Courier New" panose="02070309020205020404" pitchFamily="49" charset="0"/>
              <a:buChar char="o"/>
              <a:defRPr/>
            </a:pPr>
            <a:r>
              <a:rPr kumimoji="0" lang="en-US" sz="2800" kern="0" cap="none" spc="0" normalizeH="0" baseline="0" noProof="0" dirty="0" err="1">
                <a:solidFill>
                  <a:srgbClr val="CCECFF"/>
                </a:solidFill>
                <a:latin typeface="Arial Narrow" panose="020B0606020202030204" pitchFamily="34" charset="0"/>
                <a:ea typeface="+mn-ea"/>
                <a:cs typeface="+mn-cs"/>
              </a:rPr>
              <a:t>Sejarah</a:t>
            </a:r>
            <a:r>
              <a:rPr kumimoji="0" lang="en-US" sz="2800" kern="0" cap="none" spc="0" normalizeH="0" baseline="0" noProof="0" dirty="0">
                <a:solidFill>
                  <a:srgbClr val="CCECFF"/>
                </a:solidFill>
                <a:latin typeface="Arial Narrow" panose="020B0606020202030204" pitchFamily="34" charset="0"/>
                <a:ea typeface="+mn-ea"/>
                <a:cs typeface="+mn-cs"/>
              </a:rPr>
              <a:t> </a:t>
            </a:r>
            <a:r>
              <a:rPr kumimoji="0" lang="en-US" sz="2800" kern="0" cap="none" spc="0" normalizeH="0" baseline="0" noProof="0" dirty="0" err="1">
                <a:solidFill>
                  <a:srgbClr val="CCECFF"/>
                </a:solidFill>
                <a:latin typeface="Arial Narrow" panose="020B0606020202030204" pitchFamily="34" charset="0"/>
                <a:ea typeface="+mn-ea"/>
                <a:cs typeface="+mn-cs"/>
              </a:rPr>
              <a:t>kemunculan</a:t>
            </a:r>
            <a:r>
              <a:rPr kumimoji="0" lang="en-US" sz="2800" kern="0" cap="none" spc="0" normalizeH="0" baseline="0" noProof="0" dirty="0">
                <a:solidFill>
                  <a:srgbClr val="CCECFF"/>
                </a:solidFill>
                <a:latin typeface="Arial Narrow" panose="020B0606020202030204" pitchFamily="34" charset="0"/>
                <a:ea typeface="+mn-ea"/>
                <a:cs typeface="+mn-cs"/>
              </a:rPr>
              <a:t> basis data</a:t>
            </a:r>
            <a:endParaRPr kumimoji="0" lang="en-US" sz="2800" kern="0" cap="none" spc="0" normalizeH="0" baseline="0" noProof="0" dirty="0">
              <a:solidFill>
                <a:srgbClr val="CCECFF"/>
              </a:solidFill>
              <a:latin typeface="Arial Narrow" panose="020B0606020202030204" pitchFamily="34" charset="0"/>
              <a:ea typeface="+mn-ea"/>
              <a:cs typeface="+mn-cs"/>
            </a:endParaRPr>
          </a:p>
          <a:p>
            <a:pPr marL="342900" marR="0" indent="-342900" algn="just" defTabSz="914400" eaLnBrk="0" hangingPunct="0">
              <a:spcBef>
                <a:spcPct val="20000"/>
              </a:spcBef>
              <a:buClrTx/>
              <a:buSzTx/>
              <a:buFont typeface="Courier New" panose="02070309020205020404" pitchFamily="49" charset="0"/>
              <a:buChar char="o"/>
              <a:defRPr/>
            </a:pPr>
            <a:r>
              <a:rPr kumimoji="0" lang="en-US" sz="2800" kern="0" cap="none" spc="0" normalizeH="0" baseline="0" noProof="0" dirty="0" err="1">
                <a:solidFill>
                  <a:srgbClr val="CCECFF"/>
                </a:solidFill>
                <a:latin typeface="Arial Narrow" panose="020B0606020202030204" pitchFamily="34" charset="0"/>
                <a:ea typeface="+mn-ea"/>
                <a:cs typeface="+mn-cs"/>
              </a:rPr>
              <a:t>Apa</a:t>
            </a:r>
            <a:r>
              <a:rPr kumimoji="0" lang="en-US" sz="2800" kern="0" cap="none" spc="0" normalizeH="0" baseline="0" noProof="0" dirty="0">
                <a:solidFill>
                  <a:srgbClr val="CCECFF"/>
                </a:solidFill>
                <a:latin typeface="Arial Narrow" panose="020B0606020202030204" pitchFamily="34" charset="0"/>
                <a:ea typeface="+mn-ea"/>
                <a:cs typeface="+mn-cs"/>
              </a:rPr>
              <a:t> </a:t>
            </a:r>
            <a:r>
              <a:rPr kumimoji="0" lang="en-US" sz="2800" kern="0" cap="none" spc="0" normalizeH="0" baseline="0" noProof="0" dirty="0" err="1">
                <a:solidFill>
                  <a:srgbClr val="CCECFF"/>
                </a:solidFill>
                <a:latin typeface="Arial Narrow" panose="020B0606020202030204" pitchFamily="34" charset="0"/>
                <a:ea typeface="+mn-ea"/>
                <a:cs typeface="+mn-cs"/>
              </a:rPr>
              <a:t>itu</a:t>
            </a:r>
            <a:r>
              <a:rPr kumimoji="0" lang="en-US" sz="2800" kern="0" cap="none" spc="0" normalizeH="0" baseline="0" noProof="0" dirty="0">
                <a:solidFill>
                  <a:srgbClr val="CCECFF"/>
                </a:solidFill>
                <a:latin typeface="Arial Narrow" panose="020B0606020202030204" pitchFamily="34" charset="0"/>
                <a:ea typeface="+mn-ea"/>
                <a:cs typeface="+mn-cs"/>
              </a:rPr>
              <a:t> basis data?</a:t>
            </a:r>
            <a:endParaRPr kumimoji="0" lang="en-US" sz="2800" kern="0" cap="none" spc="0" normalizeH="0" baseline="0" noProof="0" dirty="0">
              <a:solidFill>
                <a:srgbClr val="CCECFF"/>
              </a:solidFill>
              <a:latin typeface="Arial Narrow" panose="020B0606020202030204" pitchFamily="34" charset="0"/>
              <a:ea typeface="+mn-ea"/>
              <a:cs typeface="+mn-cs"/>
            </a:endParaRPr>
          </a:p>
          <a:p>
            <a:pPr marL="342900" marR="0" indent="-342900" algn="just" defTabSz="914400" eaLnBrk="0" hangingPunct="0">
              <a:spcBef>
                <a:spcPct val="20000"/>
              </a:spcBef>
              <a:buClrTx/>
              <a:buSzTx/>
              <a:buFont typeface="Courier New" panose="02070309020205020404" pitchFamily="49" charset="0"/>
              <a:buChar char="o"/>
              <a:defRPr/>
            </a:pPr>
            <a:r>
              <a:rPr kumimoji="0" lang="en-US" sz="2800" kern="0" cap="none" spc="0" normalizeH="0" baseline="0" noProof="0" dirty="0" err="1">
                <a:solidFill>
                  <a:srgbClr val="CCECFF"/>
                </a:solidFill>
                <a:latin typeface="Arial Narrow" panose="020B0606020202030204" pitchFamily="34" charset="0"/>
                <a:ea typeface="+mn-ea"/>
                <a:cs typeface="+mn-cs"/>
              </a:rPr>
              <a:t>Apa</a:t>
            </a:r>
            <a:r>
              <a:rPr kumimoji="0" lang="en-US" sz="2800" kern="0" cap="none" spc="0" normalizeH="0" baseline="0" noProof="0" dirty="0">
                <a:solidFill>
                  <a:srgbClr val="CCECFF"/>
                </a:solidFill>
                <a:latin typeface="Arial Narrow" panose="020B0606020202030204" pitchFamily="34" charset="0"/>
                <a:ea typeface="+mn-ea"/>
                <a:cs typeface="+mn-cs"/>
              </a:rPr>
              <a:t> </a:t>
            </a:r>
            <a:r>
              <a:rPr kumimoji="0" lang="en-US" sz="2800" kern="0" cap="none" spc="0" normalizeH="0" baseline="0" noProof="0" dirty="0" err="1">
                <a:solidFill>
                  <a:srgbClr val="CCECFF"/>
                </a:solidFill>
                <a:latin typeface="Arial Narrow" panose="020B0606020202030204" pitchFamily="34" charset="0"/>
                <a:ea typeface="+mn-ea"/>
                <a:cs typeface="+mn-cs"/>
              </a:rPr>
              <a:t>itu</a:t>
            </a:r>
            <a:r>
              <a:rPr kumimoji="0" lang="en-US" sz="2800" kern="0" cap="none" spc="0" normalizeH="0" baseline="0" noProof="0" dirty="0">
                <a:solidFill>
                  <a:srgbClr val="CCECFF"/>
                </a:solidFill>
                <a:latin typeface="Arial Narrow" panose="020B0606020202030204" pitchFamily="34" charset="0"/>
                <a:ea typeface="+mn-ea"/>
                <a:cs typeface="+mn-cs"/>
              </a:rPr>
              <a:t> data </a:t>
            </a:r>
            <a:r>
              <a:rPr kumimoji="0" lang="en-US" sz="2800" kern="0" cap="none" spc="0" normalizeH="0" baseline="0" noProof="0" dirty="0" err="1">
                <a:solidFill>
                  <a:srgbClr val="CCECFF"/>
                </a:solidFill>
                <a:latin typeface="Arial Narrow" panose="020B0606020202030204" pitchFamily="34" charset="0"/>
                <a:ea typeface="+mn-ea"/>
                <a:cs typeface="+mn-cs"/>
              </a:rPr>
              <a:t>dan</a:t>
            </a:r>
            <a:r>
              <a:rPr kumimoji="0" lang="en-US" sz="2800" kern="0" cap="none" spc="0" normalizeH="0" baseline="0" noProof="0" dirty="0">
                <a:solidFill>
                  <a:srgbClr val="CCECFF"/>
                </a:solidFill>
                <a:latin typeface="Arial Narrow" panose="020B0606020202030204" pitchFamily="34" charset="0"/>
                <a:ea typeface="+mn-ea"/>
                <a:cs typeface="+mn-cs"/>
              </a:rPr>
              <a:t> </a:t>
            </a:r>
            <a:r>
              <a:rPr kumimoji="0" lang="en-US" sz="2800" kern="0" cap="none" spc="0" normalizeH="0" baseline="0" noProof="0" dirty="0" err="1">
                <a:solidFill>
                  <a:srgbClr val="CCECFF"/>
                </a:solidFill>
                <a:latin typeface="Arial Narrow" panose="020B0606020202030204" pitchFamily="34" charset="0"/>
                <a:ea typeface="+mn-ea"/>
                <a:cs typeface="+mn-cs"/>
              </a:rPr>
              <a:t>informasi</a:t>
            </a:r>
            <a:r>
              <a:rPr kumimoji="0" lang="en-US" sz="2800" kern="0" cap="none" spc="0" normalizeH="0" baseline="0" noProof="0" dirty="0">
                <a:solidFill>
                  <a:srgbClr val="CCECFF"/>
                </a:solidFill>
                <a:latin typeface="Arial Narrow" panose="020B0606020202030204" pitchFamily="34" charset="0"/>
                <a:ea typeface="+mn-ea"/>
                <a:cs typeface="+mn-cs"/>
              </a:rPr>
              <a:t>?</a:t>
            </a:r>
            <a:endParaRPr kumimoji="0" lang="en-US" sz="2800" kern="0" cap="none" spc="0" normalizeH="0" baseline="0" noProof="0" dirty="0">
              <a:solidFill>
                <a:srgbClr val="CCECFF"/>
              </a:solidFill>
              <a:latin typeface="Arial Narrow" panose="020B0606020202030204" pitchFamily="34" charset="0"/>
              <a:ea typeface="+mn-ea"/>
              <a:cs typeface="+mn-cs"/>
            </a:endParaRPr>
          </a:p>
          <a:p>
            <a:pPr marL="342900" marR="0" indent="-342900" algn="just" defTabSz="914400" eaLnBrk="0" hangingPunct="0">
              <a:spcBef>
                <a:spcPct val="20000"/>
              </a:spcBef>
              <a:buClrTx/>
              <a:buSzTx/>
              <a:buFont typeface="Courier New" panose="02070309020205020404" pitchFamily="49" charset="0"/>
              <a:buChar char="o"/>
              <a:defRPr/>
            </a:pPr>
            <a:r>
              <a:rPr kumimoji="0" lang="en-US" sz="2800" kern="0" cap="none" spc="0" normalizeH="0" baseline="0" noProof="0" dirty="0">
                <a:solidFill>
                  <a:srgbClr val="CCECFF"/>
                </a:solidFill>
                <a:latin typeface="Arial Narrow" panose="020B0606020202030204" pitchFamily="34" charset="0"/>
                <a:ea typeface="+mn-ea"/>
                <a:cs typeface="+mn-cs"/>
              </a:rPr>
              <a:t>Basis data </a:t>
            </a:r>
            <a:r>
              <a:rPr kumimoji="0" lang="en-US" sz="2800" kern="0" cap="none" spc="0" normalizeH="0" baseline="0" noProof="0" dirty="0" err="1">
                <a:solidFill>
                  <a:srgbClr val="CCECFF"/>
                </a:solidFill>
                <a:latin typeface="Arial Narrow" panose="020B0606020202030204" pitchFamily="34" charset="0"/>
                <a:ea typeface="+mn-ea"/>
                <a:cs typeface="+mn-cs"/>
              </a:rPr>
              <a:t>dan</a:t>
            </a:r>
            <a:r>
              <a:rPr kumimoji="0" lang="en-US" sz="2800" kern="0" cap="none" spc="0" normalizeH="0" baseline="0" noProof="0" dirty="0">
                <a:solidFill>
                  <a:srgbClr val="CCECFF"/>
                </a:solidFill>
                <a:latin typeface="Arial Narrow" panose="020B0606020202030204" pitchFamily="34" charset="0"/>
                <a:ea typeface="+mn-ea"/>
                <a:cs typeface="+mn-cs"/>
              </a:rPr>
              <a:t> </a:t>
            </a:r>
            <a:r>
              <a:rPr kumimoji="0" lang="en-US" sz="2800" kern="0" cap="none" spc="0" normalizeH="0" baseline="0" noProof="0" dirty="0" err="1">
                <a:solidFill>
                  <a:srgbClr val="CCECFF"/>
                </a:solidFill>
                <a:latin typeface="Arial Narrow" panose="020B0606020202030204" pitchFamily="34" charset="0"/>
                <a:ea typeface="+mn-ea"/>
                <a:cs typeface="+mn-cs"/>
              </a:rPr>
              <a:t>lemari</a:t>
            </a:r>
            <a:r>
              <a:rPr kumimoji="0" lang="en-US" sz="2800" kern="0" cap="none" spc="0" normalizeH="0" baseline="0" noProof="0" dirty="0">
                <a:solidFill>
                  <a:srgbClr val="CCECFF"/>
                </a:solidFill>
                <a:latin typeface="Arial Narrow" panose="020B0606020202030204" pitchFamily="34" charset="0"/>
                <a:ea typeface="+mn-ea"/>
                <a:cs typeface="+mn-cs"/>
              </a:rPr>
              <a:t> </a:t>
            </a:r>
            <a:r>
              <a:rPr kumimoji="0" lang="en-US" sz="2800" kern="0" cap="none" spc="0" normalizeH="0" baseline="0" noProof="0" dirty="0" err="1">
                <a:solidFill>
                  <a:srgbClr val="CCECFF"/>
                </a:solidFill>
                <a:latin typeface="Arial Narrow" panose="020B0606020202030204" pitchFamily="34" charset="0"/>
                <a:ea typeface="+mn-ea"/>
                <a:cs typeface="+mn-cs"/>
              </a:rPr>
              <a:t>arsip</a:t>
            </a:r>
            <a:endParaRPr kumimoji="0" lang="en-US" sz="2800" kern="0" cap="none" spc="0" normalizeH="0" baseline="0" noProof="0" dirty="0">
              <a:solidFill>
                <a:srgbClr val="CCECFF"/>
              </a:solidFill>
              <a:latin typeface="Arial Narrow" panose="020B0606020202030204" pitchFamily="34" charset="0"/>
              <a:ea typeface="+mn-ea"/>
              <a:cs typeface="+mn-cs"/>
            </a:endParaRPr>
          </a:p>
          <a:p>
            <a:pPr marL="342900" marR="0" indent="-342900" algn="just" defTabSz="914400" eaLnBrk="0" hangingPunct="0">
              <a:spcBef>
                <a:spcPct val="20000"/>
              </a:spcBef>
              <a:buClrTx/>
              <a:buSzTx/>
              <a:buFont typeface="Courier New" panose="02070309020205020404" pitchFamily="49" charset="0"/>
              <a:buChar char="o"/>
              <a:defRPr/>
            </a:pPr>
            <a:r>
              <a:rPr kumimoji="0" lang="en-US" sz="2800" kern="0" cap="none" spc="0" normalizeH="0" baseline="0" noProof="0" dirty="0" err="1">
                <a:solidFill>
                  <a:srgbClr val="CCECFF"/>
                </a:solidFill>
                <a:latin typeface="Arial Narrow" panose="020B0606020202030204" pitchFamily="34" charset="0"/>
                <a:ea typeface="+mn-ea"/>
                <a:cs typeface="+mn-cs"/>
              </a:rPr>
              <a:t>Definisi</a:t>
            </a:r>
            <a:r>
              <a:rPr kumimoji="0" lang="en-US" sz="2800" kern="0" cap="none" spc="0" normalizeH="0" baseline="0" noProof="0" dirty="0">
                <a:solidFill>
                  <a:srgbClr val="CCECFF"/>
                </a:solidFill>
                <a:latin typeface="Arial Narrow" panose="020B0606020202030204" pitchFamily="34" charset="0"/>
                <a:ea typeface="+mn-ea"/>
                <a:cs typeface="+mn-cs"/>
              </a:rPr>
              <a:t> basis data</a:t>
            </a:r>
            <a:endParaRPr kumimoji="0" lang="en-US" sz="2800" kern="0" cap="none" spc="0" normalizeH="0" baseline="0" noProof="0" dirty="0">
              <a:solidFill>
                <a:srgbClr val="CCECFF"/>
              </a:solidFill>
              <a:latin typeface="Arial Narrow" panose="020B0606020202030204" pitchFamily="34" charset="0"/>
              <a:ea typeface="+mn-ea"/>
              <a:cs typeface="+mn-cs"/>
            </a:endParaRPr>
          </a:p>
          <a:p>
            <a:pPr marL="342900" marR="0" indent="-342900" algn="just" defTabSz="914400" eaLnBrk="0" hangingPunct="0">
              <a:spcBef>
                <a:spcPct val="20000"/>
              </a:spcBef>
              <a:buClrTx/>
              <a:buSzTx/>
              <a:buFont typeface="Courier New" panose="02070309020205020404" pitchFamily="49" charset="0"/>
              <a:buChar char="o"/>
              <a:defRPr/>
            </a:pPr>
            <a:r>
              <a:rPr kumimoji="0" lang="en-US" sz="2800" kern="0" cap="none" spc="0" normalizeH="0" baseline="0" noProof="0" dirty="0" err="1">
                <a:solidFill>
                  <a:srgbClr val="CCECFF"/>
                </a:solidFill>
                <a:latin typeface="Arial Narrow" panose="020B0606020202030204" pitchFamily="34" charset="0"/>
                <a:ea typeface="+mn-ea"/>
                <a:cs typeface="+mn-cs"/>
              </a:rPr>
              <a:t>Objektif</a:t>
            </a:r>
            <a:r>
              <a:rPr kumimoji="0" lang="en-US" sz="2800" kern="0" cap="none" spc="0" normalizeH="0" baseline="0" noProof="0" dirty="0">
                <a:solidFill>
                  <a:srgbClr val="CCECFF"/>
                </a:solidFill>
                <a:latin typeface="Arial Narrow" panose="020B0606020202030204" pitchFamily="34" charset="0"/>
                <a:ea typeface="+mn-ea"/>
                <a:cs typeface="+mn-cs"/>
              </a:rPr>
              <a:t> basis data</a:t>
            </a:r>
            <a:endParaRPr kumimoji="0" lang="en-US" sz="2800" kern="0" cap="none" spc="0" normalizeH="0" baseline="0" noProof="0" dirty="0">
              <a:solidFill>
                <a:srgbClr val="CCECFF"/>
              </a:solidFill>
              <a:latin typeface="Arial Narrow" panose="020B0606020202030204" pitchFamily="34" charset="0"/>
              <a:ea typeface="+mn-ea"/>
              <a:cs typeface="+mn-cs"/>
            </a:endParaRPr>
          </a:p>
          <a:p>
            <a:pPr marL="342900" marR="0" indent="-342900" algn="just" defTabSz="914400" eaLnBrk="0" hangingPunct="0">
              <a:spcBef>
                <a:spcPct val="20000"/>
              </a:spcBef>
              <a:buClrTx/>
              <a:buSzTx/>
              <a:buFont typeface="Courier New" panose="02070309020205020404" pitchFamily="49" charset="0"/>
              <a:buChar char="o"/>
              <a:defRPr/>
            </a:pPr>
            <a:r>
              <a:rPr kumimoji="0" lang="en-US" sz="2800" kern="0" cap="none" spc="0" normalizeH="0" baseline="0" noProof="0" dirty="0" err="1">
                <a:solidFill>
                  <a:srgbClr val="CCECFF"/>
                </a:solidFill>
                <a:latin typeface="Arial Narrow" panose="020B0606020202030204" pitchFamily="34" charset="0"/>
                <a:ea typeface="+mn-ea"/>
                <a:cs typeface="+mn-cs"/>
              </a:rPr>
              <a:t>Hirarki</a:t>
            </a:r>
            <a:r>
              <a:rPr kumimoji="0" lang="en-US" sz="2800" kern="0" cap="none" spc="0" normalizeH="0" baseline="0" noProof="0" dirty="0">
                <a:solidFill>
                  <a:srgbClr val="CCECFF"/>
                </a:solidFill>
                <a:latin typeface="Arial Narrow" panose="020B0606020202030204" pitchFamily="34" charset="0"/>
                <a:ea typeface="+mn-ea"/>
                <a:cs typeface="+mn-cs"/>
              </a:rPr>
              <a:t> data</a:t>
            </a:r>
            <a:endParaRPr kumimoji="0" lang="en-US" sz="2800" kern="0" cap="none" spc="0" normalizeH="0" baseline="0" noProof="0" dirty="0">
              <a:solidFill>
                <a:srgbClr val="CCECFF"/>
              </a:solidFill>
              <a:latin typeface="Arial Narrow" panose="020B0606020202030204" pitchFamily="34" charset="0"/>
              <a:ea typeface="+mn-ea"/>
              <a:cs typeface="+mn-cs"/>
            </a:endParaRPr>
          </a:p>
          <a:p>
            <a:pPr marL="342900" marR="0" indent="-342900" algn="just" defTabSz="914400" eaLnBrk="0" hangingPunct="0">
              <a:spcBef>
                <a:spcPct val="20000"/>
              </a:spcBef>
              <a:buClrTx/>
              <a:buSzTx/>
              <a:buFont typeface="Courier New" panose="02070309020205020404" pitchFamily="49" charset="0"/>
              <a:buChar char="o"/>
              <a:defRPr/>
            </a:pPr>
            <a:r>
              <a:rPr kumimoji="0" lang="en-US" sz="2800" kern="0" cap="none" spc="0" normalizeH="0" baseline="0" noProof="0" dirty="0" err="1">
                <a:solidFill>
                  <a:srgbClr val="CCECFF"/>
                </a:solidFill>
                <a:latin typeface="Arial Narrow" panose="020B0606020202030204" pitchFamily="34" charset="0"/>
                <a:ea typeface="+mn-ea"/>
                <a:cs typeface="+mn-cs"/>
              </a:rPr>
              <a:t>Aplikasi</a:t>
            </a:r>
            <a:r>
              <a:rPr kumimoji="0" lang="en-US" sz="2800" kern="0" cap="none" spc="0" normalizeH="0" baseline="0" noProof="0" dirty="0">
                <a:solidFill>
                  <a:srgbClr val="CCECFF"/>
                </a:solidFill>
                <a:latin typeface="Arial Narrow" panose="020B0606020202030204" pitchFamily="34" charset="0"/>
                <a:ea typeface="+mn-ea"/>
                <a:cs typeface="+mn-cs"/>
              </a:rPr>
              <a:t> basis data</a:t>
            </a:r>
            <a:endParaRPr kumimoji="0" lang="en-US" sz="2800" kern="0" cap="none" spc="0" normalizeH="0" baseline="0" noProof="0" dirty="0">
              <a:solidFill>
                <a:srgbClr val="CCECFF"/>
              </a:solidFill>
              <a:latin typeface="Arial Narrow" panose="020B0606020202030204" pitchFamily="34" charset="0"/>
              <a:ea typeface="+mn-ea"/>
              <a:cs typeface="+mn-cs"/>
            </a:endParaRPr>
          </a:p>
          <a:p>
            <a:pPr marL="342900" marR="0" indent="-342900" algn="just" defTabSz="914400" eaLnBrk="0" hangingPunct="0">
              <a:spcBef>
                <a:spcPct val="20000"/>
              </a:spcBef>
              <a:buClrTx/>
              <a:buSzTx/>
              <a:buFont typeface="Courier New" panose="02070309020205020404" pitchFamily="49" charset="0"/>
              <a:buChar char="o"/>
              <a:defRPr/>
            </a:pPr>
            <a:endParaRPr kumimoji="0" lang="en-US" sz="2800" kern="0" cap="none" spc="0" normalizeH="0" baseline="0" noProof="0" dirty="0">
              <a:solidFill>
                <a:srgbClr val="CCECFF"/>
              </a:solidFill>
              <a:latin typeface="Arial Narrow" panose="020B0606020202030204" pitchFamily="34" charset="0"/>
              <a:ea typeface="+mn-ea"/>
              <a:cs typeface="+mn-cs"/>
            </a:endParaRPr>
          </a:p>
          <a:p>
            <a:pPr marL="342900" marR="0" indent="-342900" algn="just" defTabSz="914400" eaLnBrk="0" hangingPunct="0">
              <a:spcBef>
                <a:spcPct val="20000"/>
              </a:spcBef>
              <a:buClrTx/>
              <a:buSzTx/>
              <a:buFont typeface="Courier New" panose="02070309020205020404" pitchFamily="49" charset="0"/>
              <a:buChar char="o"/>
              <a:defRPr/>
            </a:pPr>
            <a:endParaRPr kumimoji="0" lang="en-US" sz="2800" kern="0" cap="none" spc="0" normalizeH="0" baseline="0" noProof="0" dirty="0">
              <a:solidFill>
                <a:srgbClr val="CCECFF"/>
              </a:solidFill>
              <a:latin typeface="Arial Narrow" panose="020B0606020202030204" pitchFamily="34" charset="0"/>
              <a:ea typeface="+mn-ea"/>
              <a:cs typeface="+mn-cs"/>
            </a:endParaRPr>
          </a:p>
          <a:p>
            <a:pPr marL="342900" marR="0" indent="-342900" algn="just" defTabSz="914400" eaLnBrk="0" hangingPunct="0">
              <a:spcBef>
                <a:spcPct val="20000"/>
              </a:spcBef>
              <a:buClrTx/>
              <a:buSzTx/>
              <a:buFont typeface="Courier New" panose="02070309020205020404" pitchFamily="49" charset="0"/>
              <a:buChar char="o"/>
              <a:defRPr/>
            </a:pPr>
            <a:endParaRPr kumimoji="0" lang="en-US" sz="2800" kern="0" cap="none" spc="0" normalizeH="0" baseline="0" noProof="0" dirty="0">
              <a:solidFill>
                <a:srgbClr val="CCECFF"/>
              </a:solidFill>
              <a:latin typeface="Arial Narrow" panose="020B0606020202030204" pitchFamily="34" charset="0"/>
              <a:ea typeface="+mn-ea"/>
              <a:cs typeface="+mn-cs"/>
            </a:endParaRPr>
          </a:p>
          <a:p>
            <a:pPr marL="342900" marR="0" indent="-342900" algn="just" defTabSz="914400">
              <a:spcBef>
                <a:spcPct val="20000"/>
              </a:spcBef>
              <a:buClrTx/>
              <a:buSzTx/>
              <a:buFontTx/>
              <a:buNone/>
              <a:defRPr/>
            </a:pPr>
            <a:endParaRPr kumimoji="0" lang="en-US" sz="2800" kern="0" cap="none" spc="0" normalizeH="0" baseline="0" noProof="0" dirty="0">
              <a:solidFill>
                <a:srgbClr val="CCECFF"/>
              </a:solidFill>
              <a:latin typeface="Arial Narrow" panose="020B0606020202030204" pitchFamily="34" charset="0"/>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txBox="1"/>
          <p:nvPr/>
        </p:nvSpPr>
        <p:spPr>
          <a:xfrm>
            <a:off x="457200" y="246063"/>
            <a:ext cx="8229600" cy="868363"/>
          </a:xfrm>
          <a:prstGeom prst="rect">
            <a:avLst/>
          </a:prstGeom>
        </p:spPr>
        <p:txBody>
          <a:bodyPr anchor="ctr"/>
          <a:lstStyle/>
          <a:p>
            <a:pPr marR="0" algn="ctr" defTabSz="914400" eaLnBrk="0" hangingPunct="0">
              <a:buClrTx/>
              <a:buSzTx/>
              <a:buFontTx/>
              <a:buNone/>
              <a:defRPr/>
            </a:pPr>
            <a:r>
              <a:rPr kumimoji="0" lang="en-US" sz="3200" kern="0" cap="none" spc="0" normalizeH="0" baseline="0" noProof="0" dirty="0">
                <a:solidFill>
                  <a:srgbClr val="FFFFCC"/>
                </a:solidFill>
                <a:latin typeface="+mj-lt"/>
                <a:ea typeface="+mj-ea"/>
                <a:cs typeface="+mj-cs"/>
              </a:rPr>
              <a:t>SEJARAH KEMUNCULAN BASIS DATA (1)</a:t>
            </a:r>
            <a:endParaRPr kumimoji="0" lang="en-US" sz="3200" kern="0" cap="none" spc="0" normalizeH="0" baseline="0" noProof="0" dirty="0">
              <a:solidFill>
                <a:srgbClr val="FFFFCC"/>
              </a:solidFill>
              <a:latin typeface="+mj-lt"/>
              <a:ea typeface="+mj-ea"/>
              <a:cs typeface="+mj-cs"/>
            </a:endParaRPr>
          </a:p>
        </p:txBody>
      </p:sp>
      <p:sp>
        <p:nvSpPr>
          <p:cNvPr id="5" name="Rectangle 3"/>
          <p:cNvSpPr txBox="1">
            <a:spLocks noChangeArrowheads="1"/>
          </p:cNvSpPr>
          <p:nvPr/>
        </p:nvSpPr>
        <p:spPr>
          <a:xfrm>
            <a:off x="357188" y="1214438"/>
            <a:ext cx="8358188" cy="4143375"/>
          </a:xfrm>
          <a:prstGeom prst="rect">
            <a:avLst/>
          </a:prstGeom>
        </p:spPr>
        <p:txBody>
          <a:bodyPr/>
          <a:p>
            <a:pPr marL="342900" indent="-342900" algn="just" eaLnBrk="0" hangingPunct="0">
              <a:spcBef>
                <a:spcPct val="20000"/>
              </a:spcBef>
              <a:buFont typeface="Courier New" panose="02070309020205020404" pitchFamily="49" charset="0"/>
              <a:buChar char="o"/>
            </a:pPr>
            <a:r>
              <a:rPr lang="en-US" altLang="x-none" sz="2400" dirty="0">
                <a:solidFill>
                  <a:srgbClr val="CCECFF"/>
                </a:solidFill>
                <a:latin typeface="Arial Narrow" panose="020B0606020202030204" pitchFamily="34" charset="0"/>
              </a:rPr>
              <a:t>Pemrosesan basis data muncul setelah Masa Sistem pemrosesan Manual dan Sistem pemrosesan Berkas.</a:t>
            </a:r>
            <a:endParaRPr lang="en-US" altLang="x-none" sz="2400" dirty="0">
              <a:solidFill>
                <a:srgbClr val="CCECFF"/>
              </a:solidFill>
              <a:latin typeface="Arial Narrow" panose="020B0606020202030204" pitchFamily="34" charset="0"/>
            </a:endParaRPr>
          </a:p>
          <a:p>
            <a:pPr marL="342900" indent="-342900" algn="just" eaLnBrk="0" hangingPunct="0">
              <a:spcBef>
                <a:spcPct val="20000"/>
              </a:spcBef>
              <a:buFont typeface="Courier New" panose="02070309020205020404" pitchFamily="49" charset="0"/>
              <a:buChar char="o"/>
            </a:pPr>
            <a:r>
              <a:rPr lang="en-US" altLang="x-none" sz="2400" dirty="0">
                <a:solidFill>
                  <a:srgbClr val="CCECFF"/>
                </a:solidFill>
                <a:latin typeface="Arial Narrow" panose="020B0606020202030204" pitchFamily="34" charset="0"/>
              </a:rPr>
              <a:t>Kekurangan Sistem Pemrosesan Berkas:</a:t>
            </a:r>
            <a:endParaRPr lang="en-US" altLang="x-none" sz="2400" dirty="0">
              <a:solidFill>
                <a:srgbClr val="CCECFF"/>
              </a:solidFill>
              <a:latin typeface="Arial Narrow" panose="020B0606020202030204" pitchFamily="34" charset="0"/>
            </a:endParaRPr>
          </a:p>
          <a:p>
            <a:pPr marL="342900" indent="-342900" algn="just" eaLnBrk="0" hangingPunct="0">
              <a:spcBef>
                <a:spcPct val="20000"/>
              </a:spcBef>
              <a:buFont typeface="Wingdings" panose="05000000000000000000" pitchFamily="2" charset="2"/>
              <a:buChar char="ü"/>
            </a:pPr>
            <a:r>
              <a:rPr lang="en-US" altLang="x-none" sz="2400" b="1" dirty="0">
                <a:solidFill>
                  <a:srgbClr val="CCECFF"/>
                </a:solidFill>
                <a:latin typeface="Arial Narrow" panose="020B0606020202030204" pitchFamily="34" charset="0"/>
              </a:rPr>
              <a:t>Kemubaziran data atau duplikasi data</a:t>
            </a:r>
            <a:r>
              <a:rPr lang="en-US" altLang="x-none" sz="2400" dirty="0">
                <a:solidFill>
                  <a:srgbClr val="CCECFF"/>
                </a:solidFill>
                <a:latin typeface="Arial Narrow" panose="020B0606020202030204" pitchFamily="34" charset="0"/>
              </a:rPr>
              <a:t>, diakibatkan karena setiap aplikasi menggunakan data sendiri-sendiri → keterbatasan berbagi data (</a:t>
            </a:r>
            <a:r>
              <a:rPr lang="en-US" altLang="x-none" sz="2400" i="1" dirty="0">
                <a:solidFill>
                  <a:srgbClr val="CCECFF"/>
                </a:solidFill>
                <a:latin typeface="Arial Narrow" panose="020B0606020202030204" pitchFamily="34" charset="0"/>
              </a:rPr>
              <a:t>data sharing</a:t>
            </a:r>
            <a:r>
              <a:rPr lang="en-US" altLang="x-none" sz="2400" dirty="0">
                <a:solidFill>
                  <a:srgbClr val="CCECFF"/>
                </a:solidFill>
                <a:latin typeface="Arial Narrow" panose="020B0606020202030204" pitchFamily="34" charset="0"/>
              </a:rPr>
              <a:t>);</a:t>
            </a:r>
            <a:endParaRPr lang="en-US" altLang="x-none" sz="2400" dirty="0">
              <a:solidFill>
                <a:srgbClr val="CCECFF"/>
              </a:solidFill>
              <a:latin typeface="Arial Narrow" panose="020B0606020202030204" pitchFamily="34" charset="0"/>
            </a:endParaRPr>
          </a:p>
          <a:p>
            <a:pPr marL="342900" indent="-342900" algn="just" eaLnBrk="0" hangingPunct="0">
              <a:spcBef>
                <a:spcPct val="20000"/>
              </a:spcBef>
              <a:buFont typeface="Wingdings" panose="05000000000000000000" pitchFamily="2" charset="2"/>
              <a:buChar char="ü"/>
            </a:pPr>
            <a:r>
              <a:rPr lang="en-US" altLang="x-none" sz="2400" b="1" dirty="0">
                <a:solidFill>
                  <a:srgbClr val="CCECFF"/>
                </a:solidFill>
                <a:latin typeface="Arial Narrow" panose="020B0606020202030204" pitchFamily="34" charset="0"/>
              </a:rPr>
              <a:t>Ketidak-konsistenan Data</a:t>
            </a:r>
            <a:r>
              <a:rPr lang="en-US" altLang="x-none" sz="2400" dirty="0">
                <a:solidFill>
                  <a:srgbClr val="CCECFF"/>
                </a:solidFill>
                <a:latin typeface="Arial Narrow" panose="020B0606020202030204" pitchFamily="34" charset="0"/>
              </a:rPr>
              <a:t>, diakibatkan oleh adanya perubahan terhadap data yang sama, tetapi tidak semuanya diubah → terkait dengan integritas data (data dalam kondisi valid atau sah) → tidak mendukung relasional;</a:t>
            </a:r>
            <a:endParaRPr lang="en-US" altLang="x-none" sz="2400" dirty="0">
              <a:solidFill>
                <a:srgbClr val="CCECFF"/>
              </a:solidFill>
              <a:latin typeface="Arial Narrow" panose="020B0606020202030204" pitchFamily="34" charset="0"/>
            </a:endParaRPr>
          </a:p>
          <a:p>
            <a:pPr marL="342900" indent="-342900" algn="just">
              <a:spcBef>
                <a:spcPct val="20000"/>
              </a:spcBef>
              <a:buNone/>
            </a:pPr>
            <a:endParaRPr lang="en-US" altLang="x-none" sz="2400" dirty="0">
              <a:solidFill>
                <a:srgbClr val="CCECFF"/>
              </a:solidFill>
              <a:latin typeface="Arial Narrow" panose="020B060602020203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txBox="1"/>
          <p:nvPr/>
        </p:nvSpPr>
        <p:spPr>
          <a:xfrm>
            <a:off x="457200" y="246063"/>
            <a:ext cx="8229600" cy="868363"/>
          </a:xfrm>
          <a:prstGeom prst="rect">
            <a:avLst/>
          </a:prstGeom>
        </p:spPr>
        <p:txBody>
          <a:bodyPr anchor="ctr"/>
          <a:lstStyle/>
          <a:p>
            <a:pPr marR="0" algn="ctr" defTabSz="914400" eaLnBrk="0" hangingPunct="0">
              <a:buClrTx/>
              <a:buSzTx/>
              <a:buFontTx/>
              <a:buNone/>
              <a:defRPr/>
            </a:pPr>
            <a:r>
              <a:rPr kumimoji="0" lang="en-US" sz="3200" kern="0" cap="none" spc="0" normalizeH="0" baseline="0" noProof="0" dirty="0">
                <a:solidFill>
                  <a:srgbClr val="FFFFCC"/>
                </a:solidFill>
                <a:latin typeface="+mj-lt"/>
                <a:ea typeface="+mj-ea"/>
                <a:cs typeface="+mj-cs"/>
              </a:rPr>
              <a:t>SEJARAH KEMUNCULAN BASIS DATA (2)</a:t>
            </a:r>
            <a:endParaRPr kumimoji="0" lang="en-US" sz="3200" kern="0" cap="none" spc="0" normalizeH="0" baseline="0" noProof="0" dirty="0">
              <a:solidFill>
                <a:srgbClr val="FFFFCC"/>
              </a:solidFill>
              <a:latin typeface="+mj-lt"/>
              <a:ea typeface="+mj-ea"/>
              <a:cs typeface="+mj-cs"/>
            </a:endParaRPr>
          </a:p>
        </p:txBody>
      </p:sp>
      <p:sp>
        <p:nvSpPr>
          <p:cNvPr id="3" name="Rectangle 3"/>
          <p:cNvSpPr txBox="1">
            <a:spLocks noChangeArrowheads="1"/>
          </p:cNvSpPr>
          <p:nvPr/>
        </p:nvSpPr>
        <p:spPr>
          <a:xfrm>
            <a:off x="357188" y="1214438"/>
            <a:ext cx="8358188" cy="4143375"/>
          </a:xfrm>
          <a:prstGeom prst="rect">
            <a:avLst/>
          </a:prstGeom>
        </p:spPr>
        <p:txBody>
          <a:bodyPr/>
          <a:p>
            <a:pPr marL="706755" indent="-342900" algn="just" eaLnBrk="0" hangingPunct="0">
              <a:spcBef>
                <a:spcPct val="20000"/>
              </a:spcBef>
              <a:buFont typeface="Wingdings" panose="05000000000000000000" pitchFamily="2" charset="2"/>
              <a:buChar char="ü"/>
            </a:pPr>
            <a:r>
              <a:rPr lang="en-US" altLang="x-none" sz="2400" b="1" dirty="0">
                <a:solidFill>
                  <a:srgbClr val="CCECFF"/>
                </a:solidFill>
                <a:latin typeface="Arial Narrow" panose="020B0606020202030204" pitchFamily="34" charset="0"/>
              </a:rPr>
              <a:t>Kekurang-luwesan</a:t>
            </a:r>
            <a:r>
              <a:rPr lang="en-US" altLang="x-none" sz="2400" dirty="0">
                <a:solidFill>
                  <a:srgbClr val="CCECFF"/>
                </a:solidFill>
                <a:latin typeface="Arial Narrow" panose="020B0606020202030204" pitchFamily="34" charset="0"/>
              </a:rPr>
              <a:t>, terletak dalam hal pengembangan dan perubahan → perubahan struktur data → perubahan pada program.</a:t>
            </a:r>
            <a:endParaRPr lang="en-US" altLang="x-none" sz="2400" dirty="0">
              <a:solidFill>
                <a:srgbClr val="CCECFF"/>
              </a:solidFill>
              <a:latin typeface="Arial Narrow" panose="020B0606020202030204" pitchFamily="34" charset="0"/>
            </a:endParaRPr>
          </a:p>
          <a:p>
            <a:pPr marL="706755" indent="-342900" algn="just">
              <a:buFont typeface="Courier New" panose="02070309020205020404" pitchFamily="49" charset="0"/>
              <a:buChar char="o"/>
            </a:pPr>
            <a:r>
              <a:rPr lang="en-US" altLang="x-none" sz="2400" dirty="0">
                <a:solidFill>
                  <a:srgbClr val="CCECFF"/>
                </a:solidFill>
                <a:latin typeface="Arial Narrow" panose="020B0606020202030204" pitchFamily="34" charset="0"/>
              </a:rPr>
              <a:t>Istilah independensi data adalah sifat yang memungkinkan perubahan struktur berkas tidak mempengaruhi program dan juga sebaliknya.</a:t>
            </a:r>
            <a:endParaRPr lang="en-US" altLang="x-none" sz="2400" dirty="0">
              <a:solidFill>
                <a:srgbClr val="CCECFF"/>
              </a:solidFill>
              <a:latin typeface="Arial Narrow" panose="020B0606020202030204" pitchFamily="34" charset="0"/>
            </a:endParaRPr>
          </a:p>
          <a:p>
            <a:pPr marL="706755" indent="-342900" algn="just">
              <a:buFont typeface="Courier New" panose="02070309020205020404" pitchFamily="49" charset="0"/>
              <a:buChar char="o"/>
            </a:pPr>
            <a:r>
              <a:rPr lang="en-US" altLang="x-none" sz="2400" dirty="0">
                <a:solidFill>
                  <a:srgbClr val="CCECFF"/>
                </a:solidFill>
                <a:latin typeface="Arial Narrow" panose="020B0606020202030204" pitchFamily="34" charset="0"/>
              </a:rPr>
              <a:t>Sistem basis data dimaksudkan untuk mengatasi kelemahan-kelemahan yang ada pada sistem pemrosesan berkas → DBMS (</a:t>
            </a:r>
            <a:r>
              <a:rPr lang="en-US" altLang="x-none" sz="2400" i="1" dirty="0">
                <a:solidFill>
                  <a:srgbClr val="CCECFF"/>
                </a:solidFill>
                <a:latin typeface="Arial Narrow" panose="020B0606020202030204" pitchFamily="34" charset="0"/>
              </a:rPr>
              <a:t>Data Base Management System</a:t>
            </a:r>
            <a:r>
              <a:rPr lang="en-US" altLang="x-none" sz="2400" dirty="0">
                <a:solidFill>
                  <a:srgbClr val="CCECFF"/>
                </a:solidFill>
                <a:latin typeface="Arial Narrow" panose="020B0606020202030204" pitchFamily="34" charset="0"/>
              </a:rPr>
              <a:t>).</a:t>
            </a:r>
            <a:endParaRPr lang="en-US" altLang="x-none" sz="2400" dirty="0">
              <a:solidFill>
                <a:srgbClr val="CCECFF"/>
              </a:solidFill>
              <a:latin typeface="Arial Narrow" panose="020B0606020202030204" pitchFamily="34" charset="0"/>
            </a:endParaRPr>
          </a:p>
          <a:p>
            <a:pPr marL="706755" indent="-342900" algn="just" eaLnBrk="0" hangingPunct="0">
              <a:spcBef>
                <a:spcPct val="20000"/>
              </a:spcBef>
              <a:buFont typeface="Wingdings" panose="05000000000000000000" pitchFamily="2" charset="2"/>
              <a:buChar char="ü"/>
            </a:pPr>
            <a:endParaRPr lang="en-US" altLang="x-none" sz="2400" dirty="0">
              <a:solidFill>
                <a:srgbClr val="CCECFF"/>
              </a:solidFill>
              <a:latin typeface="Arial Narrow" panose="020B060602020203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txBox="1"/>
          <p:nvPr/>
        </p:nvSpPr>
        <p:spPr>
          <a:xfrm>
            <a:off x="714348" y="2143116"/>
            <a:ext cx="7715304" cy="796908"/>
          </a:xfrm>
          <a:prstGeom prst="rect">
            <a:avLst/>
          </a:prstGeom>
        </p:spPr>
        <p:txBody>
          <a:bodyPr/>
          <a:lstStyle/>
          <a:p>
            <a:pPr marR="0" algn="ctr" defTabSz="914400" eaLnBrk="0" hangingPunct="0">
              <a:buClrTx/>
              <a:buSzTx/>
              <a:buFontTx/>
              <a:buNone/>
              <a:defRPr/>
            </a:pPr>
            <a:r>
              <a:rPr kumimoji="0" lang="en-US" sz="4000" b="1" kern="0" cap="none" spc="0" normalizeH="0" baseline="0" noProof="0" dirty="0">
                <a:ln w="900" cmpd="sng">
                  <a:solidFill>
                    <a:schemeClr val="accent1">
                      <a:satMod val="190000"/>
                      <a:alpha val="55000"/>
                    </a:schemeClr>
                  </a:solidFill>
                  <a:prstDash val="solid"/>
                </a:ln>
                <a:solidFill>
                  <a:schemeClr val="accent1">
                    <a:satMod val="200000"/>
                    <a:tint val="3000"/>
                  </a:schemeClr>
                </a:solidFill>
                <a:effectLst>
                  <a:innerShdw blurRad="101600" dist="76200" dir="5400000">
                    <a:schemeClr val="accent1">
                      <a:satMod val="190000"/>
                      <a:tint val="100000"/>
                      <a:alpha val="74000"/>
                    </a:schemeClr>
                  </a:innerShdw>
                </a:effectLst>
                <a:latin typeface="+mj-lt"/>
                <a:ea typeface="+mj-ea"/>
                <a:cs typeface="+mj-cs"/>
              </a:rPr>
              <a:t>APA ITU BASIS DATA?</a:t>
            </a:r>
            <a:endParaRPr kumimoji="0" lang="en-US" sz="4000" b="1" kern="0" cap="none" spc="0" normalizeH="0" baseline="0" noProof="0" dirty="0">
              <a:ln w="900" cmpd="sng">
                <a:solidFill>
                  <a:schemeClr val="accent1">
                    <a:satMod val="190000"/>
                    <a:alpha val="55000"/>
                  </a:schemeClr>
                </a:solidFill>
                <a:prstDash val="solid"/>
              </a:ln>
              <a:solidFill>
                <a:schemeClr val="accent1">
                  <a:satMod val="200000"/>
                  <a:tint val="3000"/>
                </a:schemeClr>
              </a:solidFill>
              <a:effectLst>
                <a:innerShdw blurRad="101600" dist="76200" dir="5400000">
                  <a:schemeClr val="accent1">
                    <a:satMod val="190000"/>
                    <a:tint val="100000"/>
                    <a:alpha val="74000"/>
                  </a:schemeClr>
                </a:innerShdw>
              </a:effectLst>
              <a:latin typeface="+mj-lt"/>
              <a:ea typeface="+mj-ea"/>
              <a:cs typeface="+mj-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txBox="1"/>
          <p:nvPr/>
        </p:nvSpPr>
        <p:spPr>
          <a:xfrm>
            <a:off x="500063" y="357188"/>
            <a:ext cx="8229600" cy="868363"/>
          </a:xfrm>
          <a:prstGeom prst="rect">
            <a:avLst/>
          </a:prstGeom>
        </p:spPr>
        <p:txBody>
          <a:bodyPr/>
          <a:lstStyle/>
          <a:p>
            <a:pPr marR="0" algn="ctr" defTabSz="914400" eaLnBrk="0" hangingPunct="0">
              <a:buClrTx/>
              <a:buSzTx/>
              <a:buFontTx/>
              <a:buNone/>
              <a:defRPr/>
            </a:pPr>
            <a:r>
              <a:rPr kumimoji="0" lang="en-US" sz="4000" kern="0" cap="none" spc="0" normalizeH="0" baseline="0" noProof="0" dirty="0">
                <a:solidFill>
                  <a:srgbClr val="FFFFCC"/>
                </a:solidFill>
                <a:latin typeface="+mj-lt"/>
                <a:ea typeface="+mj-ea"/>
                <a:cs typeface="+mj-cs"/>
              </a:rPr>
              <a:t>BASIS DATA DAN LEMARI ARSIP</a:t>
            </a:r>
            <a:endParaRPr kumimoji="0" lang="en-US" sz="4000" kern="0" cap="none" spc="0" normalizeH="0" baseline="0" noProof="0" dirty="0">
              <a:solidFill>
                <a:srgbClr val="FFFFCC"/>
              </a:solidFill>
              <a:latin typeface="+mj-lt"/>
              <a:ea typeface="+mj-ea"/>
              <a:cs typeface="+mj-cs"/>
            </a:endParaRPr>
          </a:p>
        </p:txBody>
      </p:sp>
      <p:sp>
        <p:nvSpPr>
          <p:cNvPr id="3" name="Content Placeholder 2"/>
          <p:cNvSpPr txBox="1"/>
          <p:nvPr/>
        </p:nvSpPr>
        <p:spPr>
          <a:xfrm>
            <a:off x="428625" y="1285875"/>
            <a:ext cx="8358188" cy="2857500"/>
          </a:xfrm>
          <a:prstGeom prst="rect">
            <a:avLst/>
          </a:prstGeom>
        </p:spPr>
        <p:txBody>
          <a:bodyPr/>
          <a:lstStyle/>
          <a:p>
            <a:pPr marL="363855" marR="0" indent="-363855" algn="just" defTabSz="914400">
              <a:buClrTx/>
              <a:buSzTx/>
              <a:buFont typeface="Courier New" panose="02070309020205020404" pitchFamily="49" charset="0"/>
              <a:buChar char="o"/>
              <a:defRPr/>
            </a:pP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Basis data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bisa</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dibayangkan</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sebagai</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lemari</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arsip</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dengan</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berbagai</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cara</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pengaturannya</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endPar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endParaRPr>
          </a:p>
          <a:p>
            <a:pPr marL="363855" marR="0" indent="-363855" algn="just" defTabSz="914400">
              <a:buClrTx/>
              <a:buSzTx/>
              <a:buFont typeface="Courier New" panose="02070309020205020404" pitchFamily="49" charset="0"/>
              <a:buChar char="o"/>
              <a:defRPr/>
            </a:pP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Basis data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dan</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lemari</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arsip</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memiliki</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prinsip</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kerja</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dan</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tujuan</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yang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sama</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prinsipnya</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yakni</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pengaturan</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data/</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arsip</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Tujuan</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utamanya</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adalah</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kemudahan</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dan</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kecepatan</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dalam</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pengambilan</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kembali</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data/</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arsip</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endPar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endParaRPr>
          </a:p>
          <a:p>
            <a:pPr marL="342900" marR="0" indent="-342900" algn="just" defTabSz="914400" eaLnBrk="0" hangingPunct="0">
              <a:spcBef>
                <a:spcPct val="20000"/>
              </a:spcBef>
              <a:buClrTx/>
              <a:buSzTx/>
              <a:buFont typeface="Courier New" panose="02070309020205020404" pitchFamily="49" charset="0"/>
              <a:buChar char="o"/>
              <a:defRPr/>
            </a:pPr>
            <a:endParaRPr kumimoji="0" lang="en-US" sz="2800" kern="0" cap="none" spc="0" normalizeH="0" baseline="0" noProof="0" dirty="0">
              <a:solidFill>
                <a:srgbClr val="CCECFF"/>
              </a:solidFill>
              <a:latin typeface="Arial Narrow" panose="020B0606020202030204" pitchFamily="34" charset="0"/>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txBox="1"/>
          <p:nvPr/>
        </p:nvSpPr>
        <p:spPr>
          <a:xfrm>
            <a:off x="457200" y="187325"/>
            <a:ext cx="8229600" cy="868363"/>
          </a:xfrm>
          <a:prstGeom prst="rect">
            <a:avLst/>
          </a:prstGeom>
        </p:spPr>
        <p:txBody>
          <a:bodyPr/>
          <a:lstStyle/>
          <a:p>
            <a:pPr marR="0" algn="ctr" defTabSz="914400" eaLnBrk="0" hangingPunct="0">
              <a:buClrTx/>
              <a:buSzTx/>
              <a:buFontTx/>
              <a:buNone/>
              <a:defRPr/>
            </a:pPr>
            <a:r>
              <a:rPr kumimoji="0" lang="en-US" sz="4000" kern="0" cap="none" spc="0" normalizeH="0" baseline="0" noProof="0" dirty="0">
                <a:solidFill>
                  <a:srgbClr val="FFFFCC"/>
                </a:solidFill>
                <a:latin typeface="+mj-lt"/>
                <a:ea typeface="+mj-ea"/>
                <a:cs typeface="+mj-cs"/>
              </a:rPr>
              <a:t>DATA DAN INFORMASI</a:t>
            </a:r>
            <a:endParaRPr kumimoji="0" lang="en-US" sz="4000" kern="0" cap="none" spc="0" normalizeH="0" baseline="0" noProof="0" dirty="0">
              <a:solidFill>
                <a:srgbClr val="FFFFCC"/>
              </a:solidFill>
              <a:latin typeface="+mj-lt"/>
              <a:ea typeface="+mj-ea"/>
              <a:cs typeface="+mj-cs"/>
            </a:endParaRPr>
          </a:p>
        </p:txBody>
      </p:sp>
      <p:sp>
        <p:nvSpPr>
          <p:cNvPr id="3" name="Content Placeholder 2"/>
          <p:cNvSpPr txBox="1"/>
          <p:nvPr/>
        </p:nvSpPr>
        <p:spPr>
          <a:xfrm>
            <a:off x="428625" y="1054100"/>
            <a:ext cx="8358188" cy="4911725"/>
          </a:xfrm>
          <a:prstGeom prst="rect">
            <a:avLst/>
          </a:prstGeom>
        </p:spPr>
        <p:txBody>
          <a:bodyPr/>
          <a:lstStyle/>
          <a:p>
            <a:pPr marL="449580" marR="0" indent="-449580" algn="just" defTabSz="914400">
              <a:buClrTx/>
              <a:buSzTx/>
              <a:buFont typeface="Wingdings" panose="05000000000000000000" pitchFamily="2" charset="2"/>
              <a:buChar char="Ø"/>
              <a:defRPr/>
            </a:pP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Data </a:t>
            </a:r>
            <a:endPar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endParaRPr>
          </a:p>
          <a:p>
            <a:pPr marL="449580" marR="0" indent="-449580" algn="just" defTabSz="914400">
              <a:buClrTx/>
              <a:buSzTx/>
              <a:buFontTx/>
              <a:buNone/>
              <a:defRPr/>
            </a:pP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Adalah</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fakta</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mengenai</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objek</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orang</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dan</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lain-lain. Data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dinyatakan</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dengan</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nilai</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angka</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deretan</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karakter</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atau</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simbol</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a:t>
            </a:r>
            <a:endPar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endParaRPr>
          </a:p>
          <a:p>
            <a:pPr marL="449580" marR="0" indent="-449580" algn="just" defTabSz="914400">
              <a:buClrTx/>
              <a:buSzTx/>
              <a:buFont typeface="Wingdings" panose="05000000000000000000" pitchFamily="2" charset="2"/>
              <a:buChar char="Ø"/>
              <a:defRPr/>
            </a:pPr>
            <a:endPar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endParaRPr>
          </a:p>
          <a:p>
            <a:pPr marL="449580" marR="0" indent="-449580" algn="just" defTabSz="914400">
              <a:buClrTx/>
              <a:buSzTx/>
              <a:buFont typeface="Wingdings" panose="05000000000000000000" pitchFamily="2" charset="2"/>
              <a:buChar char="Ø"/>
              <a:defRPr/>
            </a:pP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Informasi</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endPar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endParaRPr>
          </a:p>
          <a:p>
            <a:pPr marL="449580" marR="0" indent="-449580" algn="just" defTabSz="914400">
              <a:buClrTx/>
              <a:buSzTx/>
              <a:buFontTx/>
              <a:buNone/>
              <a:defRPr/>
            </a:pP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Adalah</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hasil</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analisis</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dan</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sintesis</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terhadap</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data.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Dengan</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kata</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lain,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informasi</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dapat</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dikatakan</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sebagai</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data yang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telah</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diorganisasikan</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ke</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dalam</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bentuk</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yang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sesuai</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dengan</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kebutuhan</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seseorang</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a:t>
            </a:r>
            <a:endPar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endParaRPr>
          </a:p>
          <a:p>
            <a:pPr marL="342900" marR="0" indent="-342900" algn="just" defTabSz="914400" eaLnBrk="0" hangingPunct="0">
              <a:spcBef>
                <a:spcPct val="20000"/>
              </a:spcBef>
              <a:buClrTx/>
              <a:buSzTx/>
              <a:buFont typeface="Wingdings" panose="05000000000000000000" pitchFamily="2" charset="2"/>
              <a:buChar char="Ø"/>
              <a:defRPr/>
            </a:pPr>
            <a:endParaRPr kumimoji="0" lang="en-US" sz="2800" kern="0" cap="none" spc="0" normalizeH="0" baseline="0" noProof="0" dirty="0">
              <a:solidFill>
                <a:srgbClr val="CCECFF"/>
              </a:solidFill>
              <a:latin typeface="Arial Narrow" panose="020B0606020202030204" pitchFamily="34" charset="0"/>
              <a:ea typeface="+mn-ea"/>
              <a:cs typeface="+mn-cs"/>
            </a:endParaRPr>
          </a:p>
          <a:p>
            <a:pPr marL="342900" marR="0" indent="-342900" algn="just" defTabSz="914400" eaLnBrk="0" hangingPunct="0">
              <a:spcBef>
                <a:spcPct val="20000"/>
              </a:spcBef>
              <a:buClrTx/>
              <a:buSzTx/>
              <a:buFont typeface="Wingdings" panose="05000000000000000000" pitchFamily="2" charset="2"/>
              <a:buChar char="Ø"/>
              <a:defRPr/>
            </a:pPr>
            <a:endParaRPr kumimoji="0" lang="en-US" sz="2800" kern="0" cap="none" spc="0" normalizeH="0" baseline="0" noProof="0" dirty="0">
              <a:solidFill>
                <a:srgbClr val="CCECFF"/>
              </a:solidFill>
              <a:latin typeface="Arial Narrow" panose="020B0606020202030204" pitchFamily="34" charset="0"/>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txBox="1"/>
          <p:nvPr/>
        </p:nvSpPr>
        <p:spPr>
          <a:xfrm>
            <a:off x="457200" y="187325"/>
            <a:ext cx="8229600" cy="868363"/>
          </a:xfrm>
          <a:prstGeom prst="rect">
            <a:avLst/>
          </a:prstGeom>
        </p:spPr>
        <p:txBody>
          <a:bodyPr anchor="ctr"/>
          <a:lstStyle/>
          <a:p>
            <a:pPr marR="0" algn="ctr" defTabSz="914400" eaLnBrk="0" hangingPunct="0">
              <a:buClrTx/>
              <a:buSzTx/>
              <a:buFontTx/>
              <a:buNone/>
              <a:defRPr/>
            </a:pPr>
            <a:r>
              <a:rPr kumimoji="0" lang="en-US" sz="4000" kern="0" cap="none" spc="0" normalizeH="0" baseline="0" noProof="0" dirty="0">
                <a:solidFill>
                  <a:srgbClr val="FFFFCC"/>
                </a:solidFill>
                <a:latin typeface="+mj-lt"/>
                <a:ea typeface="+mj-ea"/>
                <a:cs typeface="+mj-cs"/>
              </a:rPr>
              <a:t>DEFINISI BASIS DATA (1)</a:t>
            </a:r>
            <a:endParaRPr kumimoji="0" lang="en-US" sz="4000" kern="0" cap="none" spc="0" normalizeH="0" baseline="0" noProof="0" dirty="0">
              <a:solidFill>
                <a:srgbClr val="FFFFCC"/>
              </a:solidFill>
              <a:latin typeface="+mj-lt"/>
              <a:ea typeface="+mj-ea"/>
              <a:cs typeface="+mj-cs"/>
            </a:endParaRPr>
          </a:p>
        </p:txBody>
      </p:sp>
      <p:sp>
        <p:nvSpPr>
          <p:cNvPr id="3" name="Content Placeholder 2"/>
          <p:cNvSpPr txBox="1"/>
          <p:nvPr/>
        </p:nvSpPr>
        <p:spPr>
          <a:xfrm>
            <a:off x="3357563" y="2571750"/>
            <a:ext cx="5572125" cy="1714500"/>
          </a:xfrm>
          <a:prstGeom prst="rect">
            <a:avLst/>
          </a:prstGeom>
        </p:spPr>
        <p:txBody>
          <a:bodyPr/>
          <a:lstStyle/>
          <a:p>
            <a:pPr marR="0" algn="just" defTabSz="914400" eaLnBrk="0" hangingPunct="0">
              <a:spcBef>
                <a:spcPct val="20000"/>
              </a:spcBef>
              <a:buClrTx/>
              <a:buSzTx/>
              <a:buFontTx/>
              <a:buNone/>
              <a:defRPr/>
            </a:pPr>
            <a:endParaRPr kumimoji="0" lang="en-US" sz="2800" kern="0" cap="none" spc="0" normalizeH="0" baseline="0" noProof="0" dirty="0">
              <a:solidFill>
                <a:srgbClr val="CCECFF"/>
              </a:solidFill>
              <a:latin typeface="Arial Narrow" panose="020B0606020202030204" pitchFamily="34" charset="0"/>
              <a:ea typeface="+mn-ea"/>
              <a:cs typeface="+mn-cs"/>
            </a:endParaRPr>
          </a:p>
        </p:txBody>
      </p:sp>
      <p:sp>
        <p:nvSpPr>
          <p:cNvPr id="4" name="Title 1"/>
          <p:cNvSpPr txBox="1"/>
          <p:nvPr/>
        </p:nvSpPr>
        <p:spPr>
          <a:xfrm>
            <a:off x="214282" y="1357298"/>
            <a:ext cx="3786214" cy="796908"/>
          </a:xfrm>
          <a:prstGeom prst="rect">
            <a:avLst/>
          </a:prstGeom>
        </p:spPr>
        <p:txBody>
          <a:bodyPr/>
          <a:lstStyle/>
          <a:p>
            <a:pPr marR="0" algn="ctr" defTabSz="914400" eaLnBrk="0" hangingPunct="0">
              <a:buClrTx/>
              <a:buSzTx/>
              <a:buFontTx/>
              <a:buNone/>
              <a:defRPr/>
            </a:pPr>
            <a:r>
              <a:rPr kumimoji="0" lang="en-US" sz="4000" b="1" kern="0" cap="none" spc="0" normalizeH="0" baseline="0" noProof="0" dirty="0">
                <a:ln w="900" cmpd="sng">
                  <a:solidFill>
                    <a:schemeClr val="accent1">
                      <a:satMod val="190000"/>
                      <a:alpha val="55000"/>
                    </a:schemeClr>
                  </a:solidFill>
                  <a:prstDash val="solid"/>
                </a:ln>
                <a:solidFill>
                  <a:schemeClr val="accent1">
                    <a:satMod val="200000"/>
                    <a:tint val="3000"/>
                  </a:schemeClr>
                </a:solidFill>
                <a:effectLst>
                  <a:innerShdw blurRad="101600" dist="76200" dir="5400000">
                    <a:schemeClr val="accent1">
                      <a:satMod val="190000"/>
                      <a:tint val="100000"/>
                      <a:alpha val="74000"/>
                    </a:schemeClr>
                  </a:innerShdw>
                </a:effectLst>
                <a:latin typeface="+mj-lt"/>
                <a:ea typeface="+mj-ea"/>
                <a:cs typeface="+mj-cs"/>
              </a:rPr>
              <a:t>BASIS DATA</a:t>
            </a:r>
            <a:endParaRPr kumimoji="0" lang="en-US" sz="4000" b="1" kern="0" cap="none" spc="0" normalizeH="0" baseline="0" noProof="0" dirty="0">
              <a:ln w="900" cmpd="sng">
                <a:solidFill>
                  <a:schemeClr val="accent1">
                    <a:satMod val="190000"/>
                    <a:alpha val="55000"/>
                  </a:schemeClr>
                </a:solidFill>
                <a:prstDash val="solid"/>
              </a:ln>
              <a:solidFill>
                <a:schemeClr val="accent1">
                  <a:satMod val="200000"/>
                  <a:tint val="3000"/>
                </a:schemeClr>
              </a:solidFill>
              <a:effectLst>
                <a:innerShdw blurRad="101600" dist="76200" dir="5400000">
                  <a:schemeClr val="accent1">
                    <a:satMod val="190000"/>
                    <a:tint val="100000"/>
                    <a:alpha val="74000"/>
                  </a:schemeClr>
                </a:innerShdw>
              </a:effectLst>
              <a:latin typeface="+mj-lt"/>
              <a:ea typeface="+mj-ea"/>
              <a:cs typeface="+mj-cs"/>
            </a:endParaRPr>
          </a:p>
        </p:txBody>
      </p:sp>
      <p:sp>
        <p:nvSpPr>
          <p:cNvPr id="9" name="Content Placeholder 2"/>
          <p:cNvSpPr txBox="1"/>
          <p:nvPr/>
        </p:nvSpPr>
        <p:spPr>
          <a:xfrm>
            <a:off x="1571625" y="4429125"/>
            <a:ext cx="5072063" cy="928688"/>
          </a:xfrm>
          <a:prstGeom prst="rect">
            <a:avLst/>
          </a:prstGeom>
        </p:spPr>
        <p:txBody>
          <a:bodyPr/>
          <a:lstStyle/>
          <a:p>
            <a:pPr marR="0" algn="just" defTabSz="914400" eaLnBrk="0" hangingPunct="0">
              <a:spcBef>
                <a:spcPct val="20000"/>
              </a:spcBef>
              <a:buClrTx/>
              <a:buSzTx/>
              <a:buFontTx/>
              <a:buNone/>
              <a:defRPr/>
            </a:pPr>
            <a:endParaRPr kumimoji="0" lang="en-US" sz="2800" kern="0" cap="none" spc="0" normalizeH="0" baseline="0" noProof="0" dirty="0">
              <a:solidFill>
                <a:srgbClr val="CCECFF"/>
              </a:solidFill>
              <a:latin typeface="Arial Narrow" panose="020B0606020202030204" pitchFamily="34" charset="0"/>
              <a:ea typeface="+mn-ea"/>
              <a:cs typeface="+mn-cs"/>
            </a:endParaRPr>
          </a:p>
        </p:txBody>
      </p:sp>
      <p:sp>
        <p:nvSpPr>
          <p:cNvPr id="13" name="Line Callout 2 12"/>
          <p:cNvSpPr/>
          <p:nvPr/>
        </p:nvSpPr>
        <p:spPr>
          <a:xfrm>
            <a:off x="4429125" y="2000250"/>
            <a:ext cx="4429125" cy="2286000"/>
          </a:xfrm>
          <a:prstGeom prst="borderCallout2">
            <a:avLst>
              <a:gd name="adj1" fmla="val 61126"/>
              <a:gd name="adj2" fmla="val -468"/>
              <a:gd name="adj3" fmla="val 61126"/>
              <a:gd name="adj4" fmla="val -31413"/>
              <a:gd name="adj5" fmla="val 1263"/>
              <a:gd name="adj6" fmla="val -32904"/>
            </a:avLst>
          </a:prstGeom>
          <a:solidFill>
            <a:srgbClr val="FFFFCC"/>
          </a:solidFill>
          <a:ln>
            <a:solidFill>
              <a:srgbClr val="FFFF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just" defTabSz="914400" rtl="0" eaLnBrk="1" fontAlgn="base" latinLnBrk="0" hangingPunct="1">
              <a:lnSpc>
                <a:spcPct val="100000"/>
              </a:lnSpc>
              <a:spcBef>
                <a:spcPct val="0"/>
              </a:spcBef>
              <a:spcAft>
                <a:spcPct val="0"/>
              </a:spcAft>
              <a:buClrTx/>
              <a:buSzTx/>
              <a:buFontTx/>
              <a:buNone/>
              <a:defRPr/>
            </a:pPr>
            <a:r>
              <a:rPr kumimoji="0" lang="en-US" sz="2800" b="0" i="0" u="none" strike="noStrike" kern="1200" cap="none" spc="0" normalizeH="0" baseline="0" noProof="0" dirty="0" err="1">
                <a:ln>
                  <a:noFill/>
                </a:ln>
                <a:solidFill>
                  <a:schemeClr val="tx1"/>
                </a:solidFill>
                <a:effectLst/>
                <a:uLnTx/>
                <a:uFillTx/>
                <a:latin typeface="Arial Narrow" panose="020B0606020202030204" pitchFamily="34" charset="0"/>
                <a:ea typeface="+mn-ea"/>
                <a:cs typeface="+mn-cs"/>
              </a:rPr>
              <a:t>representasi</a:t>
            </a:r>
            <a:r>
              <a:rPr kumimoji="0" lang="en-US" sz="2800" b="0" i="0" u="none" strike="noStrike" kern="1200" cap="none" spc="0" normalizeH="0" baseline="0" noProof="0" dirty="0">
                <a:ln>
                  <a:noFill/>
                </a:ln>
                <a:solidFill>
                  <a:schemeClr val="tx1"/>
                </a:solidFill>
                <a:effectLst/>
                <a:uLnTx/>
                <a:uFillTx/>
                <a:latin typeface="Arial Narrow" panose="020B0606020202030204" pitchFamily="34" charset="0"/>
                <a:ea typeface="+mn-ea"/>
                <a:cs typeface="+mn-cs"/>
              </a:rPr>
              <a:t> </a:t>
            </a:r>
            <a:r>
              <a:rPr kumimoji="0" lang="en-US" sz="2800" b="0" i="0" u="none" strike="noStrike" kern="1200" cap="none" spc="0" normalizeH="0" baseline="0" noProof="0" dirty="0" err="1">
                <a:ln>
                  <a:noFill/>
                </a:ln>
                <a:solidFill>
                  <a:schemeClr val="tx1"/>
                </a:solidFill>
                <a:effectLst/>
                <a:uLnTx/>
                <a:uFillTx/>
                <a:latin typeface="Arial Narrow" panose="020B0606020202030204" pitchFamily="34" charset="0"/>
                <a:ea typeface="+mn-ea"/>
                <a:cs typeface="+mn-cs"/>
              </a:rPr>
              <a:t>dari</a:t>
            </a:r>
            <a:r>
              <a:rPr kumimoji="0" lang="en-US" sz="2800" b="0" i="0" u="none" strike="noStrike" kern="1200" cap="none" spc="0" normalizeH="0" baseline="0" noProof="0" dirty="0">
                <a:ln>
                  <a:noFill/>
                </a:ln>
                <a:solidFill>
                  <a:schemeClr val="tx1"/>
                </a:solidFill>
                <a:effectLst/>
                <a:uLnTx/>
                <a:uFillTx/>
                <a:latin typeface="Arial Narrow" panose="020B0606020202030204" pitchFamily="34" charset="0"/>
                <a:ea typeface="+mn-ea"/>
                <a:cs typeface="+mn-cs"/>
              </a:rPr>
              <a:t> </a:t>
            </a:r>
            <a:r>
              <a:rPr kumimoji="0" lang="en-US" sz="2800" b="0" i="0" u="none" strike="noStrike" kern="1200" cap="none" spc="0" normalizeH="0" baseline="0" noProof="0" dirty="0" err="1">
                <a:ln>
                  <a:noFill/>
                </a:ln>
                <a:solidFill>
                  <a:schemeClr val="tx1"/>
                </a:solidFill>
                <a:effectLst/>
                <a:uLnTx/>
                <a:uFillTx/>
                <a:latin typeface="Arial Narrow" panose="020B0606020202030204" pitchFamily="34" charset="0"/>
                <a:ea typeface="+mn-ea"/>
                <a:cs typeface="+mn-cs"/>
              </a:rPr>
              <a:t>fakta</a:t>
            </a:r>
            <a:r>
              <a:rPr kumimoji="0" lang="en-US" sz="2800" b="0" i="0" u="none" strike="noStrike" kern="1200" cap="none" spc="0" normalizeH="0" baseline="0" noProof="0" dirty="0">
                <a:ln>
                  <a:noFill/>
                </a:ln>
                <a:solidFill>
                  <a:schemeClr val="tx1"/>
                </a:solidFill>
                <a:effectLst/>
                <a:uLnTx/>
                <a:uFillTx/>
                <a:latin typeface="Arial Narrow" panose="020B0606020202030204" pitchFamily="34" charset="0"/>
                <a:ea typeface="+mn-ea"/>
                <a:cs typeface="+mn-cs"/>
              </a:rPr>
              <a:t> </a:t>
            </a:r>
            <a:r>
              <a:rPr kumimoji="0" lang="en-US" sz="2800" b="0" i="0" u="none" strike="noStrike" kern="1200" cap="none" spc="0" normalizeH="0" baseline="0" noProof="0" dirty="0" err="1">
                <a:ln>
                  <a:noFill/>
                </a:ln>
                <a:solidFill>
                  <a:schemeClr val="tx1"/>
                </a:solidFill>
                <a:effectLst/>
                <a:uLnTx/>
                <a:uFillTx/>
                <a:latin typeface="Arial Narrow" panose="020B0606020202030204" pitchFamily="34" charset="0"/>
                <a:ea typeface="+mn-ea"/>
                <a:cs typeface="+mn-cs"/>
              </a:rPr>
              <a:t>dunia</a:t>
            </a:r>
            <a:r>
              <a:rPr kumimoji="0" lang="en-US" sz="2800" b="0" i="0" u="none" strike="noStrike" kern="1200" cap="none" spc="0" normalizeH="0" baseline="0" noProof="0" dirty="0">
                <a:ln>
                  <a:noFill/>
                </a:ln>
                <a:solidFill>
                  <a:schemeClr val="tx1"/>
                </a:solidFill>
                <a:effectLst/>
                <a:uLnTx/>
                <a:uFillTx/>
                <a:latin typeface="Arial Narrow" panose="020B0606020202030204" pitchFamily="34" charset="0"/>
                <a:ea typeface="+mn-ea"/>
                <a:cs typeface="+mn-cs"/>
              </a:rPr>
              <a:t> yang </a:t>
            </a:r>
            <a:r>
              <a:rPr kumimoji="0" lang="en-US" sz="2800" b="0" i="0" u="none" strike="noStrike" kern="1200" cap="none" spc="0" normalizeH="0" baseline="0" noProof="0" dirty="0" err="1">
                <a:ln>
                  <a:noFill/>
                </a:ln>
                <a:solidFill>
                  <a:schemeClr val="tx1"/>
                </a:solidFill>
                <a:effectLst/>
                <a:uLnTx/>
                <a:uFillTx/>
                <a:latin typeface="Arial Narrow" panose="020B0606020202030204" pitchFamily="34" charset="0"/>
                <a:ea typeface="+mn-ea"/>
                <a:cs typeface="+mn-cs"/>
              </a:rPr>
              <a:t>mewakili</a:t>
            </a:r>
            <a:r>
              <a:rPr kumimoji="0" lang="en-US" sz="2800" b="0" i="0" u="none" strike="noStrike" kern="1200" cap="none" spc="0" normalizeH="0" baseline="0" noProof="0" dirty="0">
                <a:ln>
                  <a:noFill/>
                </a:ln>
                <a:solidFill>
                  <a:schemeClr val="tx1"/>
                </a:solidFill>
                <a:effectLst/>
                <a:uLnTx/>
                <a:uFillTx/>
                <a:latin typeface="Arial Narrow" panose="020B0606020202030204" pitchFamily="34" charset="0"/>
                <a:ea typeface="+mn-ea"/>
                <a:cs typeface="+mn-cs"/>
              </a:rPr>
              <a:t> </a:t>
            </a:r>
            <a:r>
              <a:rPr kumimoji="0" lang="en-US" sz="2800" b="0" i="0" u="none" strike="noStrike" kern="1200" cap="none" spc="0" normalizeH="0" baseline="0" noProof="0" dirty="0" err="1">
                <a:ln>
                  <a:noFill/>
                </a:ln>
                <a:solidFill>
                  <a:schemeClr val="tx1"/>
                </a:solidFill>
                <a:effectLst/>
                <a:uLnTx/>
                <a:uFillTx/>
                <a:latin typeface="Arial Narrow" panose="020B0606020202030204" pitchFamily="34" charset="0"/>
                <a:ea typeface="+mn-ea"/>
                <a:cs typeface="+mn-cs"/>
              </a:rPr>
              <a:t>suatu</a:t>
            </a:r>
            <a:r>
              <a:rPr kumimoji="0" lang="en-US" sz="2800" b="0" i="0" u="none" strike="noStrike" kern="1200" cap="none" spc="0" normalizeH="0" baseline="0" noProof="0" dirty="0">
                <a:ln>
                  <a:noFill/>
                </a:ln>
                <a:solidFill>
                  <a:schemeClr val="tx1"/>
                </a:solidFill>
                <a:effectLst/>
                <a:uLnTx/>
                <a:uFillTx/>
                <a:latin typeface="Arial Narrow" panose="020B0606020202030204" pitchFamily="34" charset="0"/>
                <a:ea typeface="+mn-ea"/>
                <a:cs typeface="+mn-cs"/>
              </a:rPr>
              <a:t> </a:t>
            </a:r>
            <a:r>
              <a:rPr kumimoji="0" lang="en-US" sz="2800" b="0" i="0" u="none" strike="noStrike" kern="1200" cap="none" spc="0" normalizeH="0" baseline="0" noProof="0" dirty="0" err="1">
                <a:ln>
                  <a:noFill/>
                </a:ln>
                <a:solidFill>
                  <a:schemeClr val="tx1"/>
                </a:solidFill>
                <a:effectLst/>
                <a:uLnTx/>
                <a:uFillTx/>
                <a:latin typeface="Arial Narrow" panose="020B0606020202030204" pitchFamily="34" charset="0"/>
                <a:ea typeface="+mn-ea"/>
                <a:cs typeface="+mn-cs"/>
              </a:rPr>
              <a:t>obyek</a:t>
            </a:r>
            <a:r>
              <a:rPr kumimoji="0" lang="en-US" sz="2800" b="0" i="0" u="none" strike="noStrike" kern="1200" cap="none" spc="0" normalizeH="0" baseline="0" noProof="0" dirty="0">
                <a:ln>
                  <a:noFill/>
                </a:ln>
                <a:solidFill>
                  <a:schemeClr val="tx1"/>
                </a:solidFill>
                <a:effectLst/>
                <a:uLnTx/>
                <a:uFillTx/>
                <a:latin typeface="Arial Narrow" panose="020B0606020202030204" pitchFamily="34" charset="0"/>
                <a:ea typeface="+mn-ea"/>
                <a:cs typeface="+mn-cs"/>
              </a:rPr>
              <a:t> yang </a:t>
            </a:r>
            <a:r>
              <a:rPr kumimoji="0" lang="en-US" sz="2800" b="0" i="0" u="none" strike="noStrike" kern="1200" cap="none" spc="0" normalizeH="0" baseline="0" noProof="0" dirty="0" err="1">
                <a:ln>
                  <a:noFill/>
                </a:ln>
                <a:solidFill>
                  <a:schemeClr val="tx1"/>
                </a:solidFill>
                <a:effectLst/>
                <a:uLnTx/>
                <a:uFillTx/>
                <a:latin typeface="Arial Narrow" panose="020B0606020202030204" pitchFamily="34" charset="0"/>
                <a:ea typeface="+mn-ea"/>
                <a:cs typeface="+mn-cs"/>
              </a:rPr>
              <a:t>direkam</a:t>
            </a:r>
            <a:r>
              <a:rPr kumimoji="0" lang="en-US" sz="2800" b="0" i="0" u="none" strike="noStrike" kern="1200" cap="none" spc="0" normalizeH="0" baseline="0" noProof="0" dirty="0">
                <a:ln>
                  <a:noFill/>
                </a:ln>
                <a:solidFill>
                  <a:schemeClr val="tx1"/>
                </a:solidFill>
                <a:effectLst/>
                <a:uLnTx/>
                <a:uFillTx/>
                <a:latin typeface="Arial Narrow" panose="020B0606020202030204" pitchFamily="34" charset="0"/>
                <a:ea typeface="+mn-ea"/>
                <a:cs typeface="+mn-cs"/>
              </a:rPr>
              <a:t> </a:t>
            </a:r>
            <a:r>
              <a:rPr kumimoji="0" lang="en-US" sz="2800" b="0" i="0" u="none" strike="noStrike" kern="1200" cap="none" spc="0" normalizeH="0" baseline="0" noProof="0" dirty="0" err="1">
                <a:ln>
                  <a:noFill/>
                </a:ln>
                <a:solidFill>
                  <a:schemeClr val="tx1"/>
                </a:solidFill>
                <a:effectLst/>
                <a:uLnTx/>
                <a:uFillTx/>
                <a:latin typeface="Arial Narrow" panose="020B0606020202030204" pitchFamily="34" charset="0"/>
                <a:ea typeface="+mn-ea"/>
                <a:cs typeface="+mn-cs"/>
              </a:rPr>
              <a:t>dalam</a:t>
            </a:r>
            <a:r>
              <a:rPr kumimoji="0" lang="en-US" sz="2800" b="0" i="0" u="none" strike="noStrike" kern="1200" cap="none" spc="0" normalizeH="0" baseline="0" noProof="0" dirty="0">
                <a:ln>
                  <a:noFill/>
                </a:ln>
                <a:solidFill>
                  <a:schemeClr val="tx1"/>
                </a:solidFill>
                <a:effectLst/>
                <a:uLnTx/>
                <a:uFillTx/>
                <a:latin typeface="Arial Narrow" panose="020B0606020202030204" pitchFamily="34" charset="0"/>
                <a:ea typeface="+mn-ea"/>
                <a:cs typeface="+mn-cs"/>
              </a:rPr>
              <a:t> </a:t>
            </a:r>
            <a:r>
              <a:rPr kumimoji="0" lang="en-US" sz="2800" b="0" i="0" u="none" strike="noStrike" kern="1200" cap="none" spc="0" normalizeH="0" baseline="0" noProof="0" dirty="0" err="1">
                <a:ln>
                  <a:noFill/>
                </a:ln>
                <a:solidFill>
                  <a:schemeClr val="tx1"/>
                </a:solidFill>
                <a:effectLst/>
                <a:uLnTx/>
                <a:uFillTx/>
                <a:latin typeface="Arial Narrow" panose="020B0606020202030204" pitchFamily="34" charset="0"/>
                <a:ea typeface="+mn-ea"/>
                <a:cs typeface="+mn-cs"/>
              </a:rPr>
              <a:t>bentuk</a:t>
            </a:r>
            <a:r>
              <a:rPr kumimoji="0" lang="en-US" sz="2800" b="0" i="0" u="none" strike="noStrike" kern="1200" cap="none" spc="0" normalizeH="0" baseline="0" noProof="0" dirty="0">
                <a:ln>
                  <a:noFill/>
                </a:ln>
                <a:solidFill>
                  <a:schemeClr val="tx1"/>
                </a:solidFill>
                <a:effectLst/>
                <a:uLnTx/>
                <a:uFillTx/>
                <a:latin typeface="Arial Narrow" panose="020B0606020202030204" pitchFamily="34" charset="0"/>
                <a:ea typeface="+mn-ea"/>
                <a:cs typeface="+mn-cs"/>
              </a:rPr>
              <a:t> </a:t>
            </a:r>
            <a:r>
              <a:rPr kumimoji="0" lang="en-US" sz="2800" b="0" i="0" u="none" strike="noStrike" kern="1200" cap="none" spc="0" normalizeH="0" baseline="0" noProof="0" dirty="0" err="1">
                <a:ln>
                  <a:noFill/>
                </a:ln>
                <a:solidFill>
                  <a:schemeClr val="tx1"/>
                </a:solidFill>
                <a:effectLst/>
                <a:uLnTx/>
                <a:uFillTx/>
                <a:latin typeface="Arial Narrow" panose="020B0606020202030204" pitchFamily="34" charset="0"/>
                <a:ea typeface="+mn-ea"/>
                <a:cs typeface="+mn-cs"/>
              </a:rPr>
              <a:t>angka</a:t>
            </a:r>
            <a:r>
              <a:rPr kumimoji="0" lang="en-US" sz="2800" b="0" i="0" u="none" strike="noStrike" kern="1200" cap="none" spc="0" normalizeH="0" baseline="0" noProof="0" dirty="0">
                <a:ln>
                  <a:noFill/>
                </a:ln>
                <a:solidFill>
                  <a:schemeClr val="tx1"/>
                </a:solidFill>
                <a:effectLst/>
                <a:uLnTx/>
                <a:uFillTx/>
                <a:latin typeface="Arial Narrow" panose="020B0606020202030204" pitchFamily="34" charset="0"/>
                <a:ea typeface="+mn-ea"/>
                <a:cs typeface="+mn-cs"/>
              </a:rPr>
              <a:t>, </a:t>
            </a:r>
            <a:r>
              <a:rPr kumimoji="0" lang="en-US" sz="2800" b="0" i="0" u="none" strike="noStrike" kern="1200" cap="none" spc="0" normalizeH="0" baseline="0" noProof="0" dirty="0" err="1">
                <a:ln>
                  <a:noFill/>
                </a:ln>
                <a:solidFill>
                  <a:schemeClr val="tx1"/>
                </a:solidFill>
                <a:effectLst/>
                <a:uLnTx/>
                <a:uFillTx/>
                <a:latin typeface="Arial Narrow" panose="020B0606020202030204" pitchFamily="34" charset="0"/>
                <a:ea typeface="+mn-ea"/>
                <a:cs typeface="+mn-cs"/>
              </a:rPr>
              <a:t>huruf</a:t>
            </a:r>
            <a:r>
              <a:rPr kumimoji="0" lang="en-US" sz="2800" b="0" i="0" u="none" strike="noStrike" kern="1200" cap="none" spc="0" normalizeH="0" baseline="0" noProof="0" dirty="0">
                <a:ln>
                  <a:noFill/>
                </a:ln>
                <a:solidFill>
                  <a:schemeClr val="tx1"/>
                </a:solidFill>
                <a:effectLst/>
                <a:uLnTx/>
                <a:uFillTx/>
                <a:latin typeface="Arial Narrow" panose="020B0606020202030204" pitchFamily="34" charset="0"/>
                <a:ea typeface="+mn-ea"/>
                <a:cs typeface="+mn-cs"/>
              </a:rPr>
              <a:t>, </a:t>
            </a:r>
            <a:r>
              <a:rPr kumimoji="0" lang="en-US" sz="2800" b="0" i="0" u="none" strike="noStrike" kern="1200" cap="none" spc="0" normalizeH="0" baseline="0" noProof="0" dirty="0" err="1">
                <a:ln>
                  <a:noFill/>
                </a:ln>
                <a:solidFill>
                  <a:schemeClr val="tx1"/>
                </a:solidFill>
                <a:effectLst/>
                <a:uLnTx/>
                <a:uFillTx/>
                <a:latin typeface="Arial Narrow" panose="020B0606020202030204" pitchFamily="34" charset="0"/>
                <a:ea typeface="+mn-ea"/>
                <a:cs typeface="+mn-cs"/>
              </a:rPr>
              <a:t>simbol</a:t>
            </a:r>
            <a:r>
              <a:rPr kumimoji="0" lang="en-US" sz="2800" b="0" i="0" u="none" strike="noStrike" kern="1200" cap="none" spc="0" normalizeH="0" baseline="0" noProof="0" dirty="0">
                <a:ln>
                  <a:noFill/>
                </a:ln>
                <a:solidFill>
                  <a:schemeClr val="tx1"/>
                </a:solidFill>
                <a:effectLst/>
                <a:uLnTx/>
                <a:uFillTx/>
                <a:latin typeface="Arial Narrow" panose="020B0606020202030204" pitchFamily="34" charset="0"/>
                <a:ea typeface="+mn-ea"/>
                <a:cs typeface="+mn-cs"/>
              </a:rPr>
              <a:t>, </a:t>
            </a:r>
            <a:r>
              <a:rPr kumimoji="0" lang="en-US" sz="2800" b="0" i="0" u="none" strike="noStrike" kern="1200" cap="none" spc="0" normalizeH="0" baseline="0" noProof="0" dirty="0" err="1">
                <a:ln>
                  <a:noFill/>
                </a:ln>
                <a:solidFill>
                  <a:schemeClr val="tx1"/>
                </a:solidFill>
                <a:effectLst/>
                <a:uLnTx/>
                <a:uFillTx/>
                <a:latin typeface="Arial Narrow" panose="020B0606020202030204" pitchFamily="34" charset="0"/>
                <a:ea typeface="+mn-ea"/>
                <a:cs typeface="+mn-cs"/>
              </a:rPr>
              <a:t>teks</a:t>
            </a:r>
            <a:r>
              <a:rPr kumimoji="0" lang="en-US" sz="2800" b="0" i="0" u="none" strike="noStrike" kern="1200" cap="none" spc="0" normalizeH="0" baseline="0" noProof="0" dirty="0">
                <a:ln>
                  <a:noFill/>
                </a:ln>
                <a:solidFill>
                  <a:schemeClr val="tx1"/>
                </a:solidFill>
                <a:effectLst/>
                <a:uLnTx/>
                <a:uFillTx/>
                <a:latin typeface="Arial Narrow" panose="020B0606020202030204" pitchFamily="34" charset="0"/>
                <a:ea typeface="+mn-ea"/>
                <a:cs typeface="+mn-cs"/>
              </a:rPr>
              <a:t>, </a:t>
            </a:r>
            <a:r>
              <a:rPr kumimoji="0" lang="en-US" sz="2800" b="0" i="0" u="none" strike="noStrike" kern="1200" cap="none" spc="0" normalizeH="0" baseline="0" noProof="0" dirty="0" err="1">
                <a:ln>
                  <a:noFill/>
                </a:ln>
                <a:solidFill>
                  <a:schemeClr val="tx1"/>
                </a:solidFill>
                <a:effectLst/>
                <a:uLnTx/>
                <a:uFillTx/>
                <a:latin typeface="Arial Narrow" panose="020B0606020202030204" pitchFamily="34" charset="0"/>
                <a:ea typeface="+mn-ea"/>
                <a:cs typeface="+mn-cs"/>
              </a:rPr>
              <a:t>gambar</a:t>
            </a:r>
            <a:r>
              <a:rPr kumimoji="0" lang="en-US" sz="2800" b="0" i="0" u="none" strike="noStrike" kern="1200" cap="none" spc="0" normalizeH="0" baseline="0" noProof="0" dirty="0">
                <a:ln>
                  <a:noFill/>
                </a:ln>
                <a:solidFill>
                  <a:schemeClr val="tx1"/>
                </a:solidFill>
                <a:effectLst/>
                <a:uLnTx/>
                <a:uFillTx/>
                <a:latin typeface="Arial Narrow" panose="020B0606020202030204" pitchFamily="34" charset="0"/>
                <a:ea typeface="+mn-ea"/>
                <a:cs typeface="+mn-cs"/>
              </a:rPr>
              <a:t>, </a:t>
            </a:r>
            <a:r>
              <a:rPr kumimoji="0" lang="en-US" sz="2800" b="0" i="0" u="none" strike="noStrike" kern="1200" cap="none" spc="0" normalizeH="0" baseline="0" noProof="0" dirty="0" err="1">
                <a:ln>
                  <a:noFill/>
                </a:ln>
                <a:solidFill>
                  <a:schemeClr val="tx1"/>
                </a:solidFill>
                <a:effectLst/>
                <a:uLnTx/>
                <a:uFillTx/>
                <a:latin typeface="Arial Narrow" panose="020B0606020202030204" pitchFamily="34" charset="0"/>
                <a:ea typeface="+mn-ea"/>
                <a:cs typeface="+mn-cs"/>
              </a:rPr>
              <a:t>bunyi</a:t>
            </a:r>
            <a:r>
              <a:rPr kumimoji="0" lang="en-US" sz="2800" b="0" i="0" u="none" strike="noStrike" kern="1200" cap="none" spc="0" normalizeH="0" baseline="0" noProof="0" dirty="0">
                <a:ln>
                  <a:noFill/>
                </a:ln>
                <a:solidFill>
                  <a:schemeClr val="tx1"/>
                </a:solidFill>
                <a:effectLst/>
                <a:uLnTx/>
                <a:uFillTx/>
                <a:latin typeface="Arial Narrow" panose="020B0606020202030204" pitchFamily="34" charset="0"/>
                <a:ea typeface="+mn-ea"/>
                <a:cs typeface="+mn-cs"/>
              </a:rPr>
              <a:t> </a:t>
            </a:r>
            <a:r>
              <a:rPr kumimoji="0" lang="en-US" sz="2800" b="0" i="0" u="none" strike="noStrike" kern="1200" cap="none" spc="0" normalizeH="0" baseline="0" noProof="0" dirty="0" err="1">
                <a:ln>
                  <a:noFill/>
                </a:ln>
                <a:solidFill>
                  <a:schemeClr val="tx1"/>
                </a:solidFill>
                <a:effectLst/>
                <a:uLnTx/>
                <a:uFillTx/>
                <a:latin typeface="Arial Narrow" panose="020B0606020202030204" pitchFamily="34" charset="0"/>
                <a:ea typeface="+mn-ea"/>
                <a:cs typeface="+mn-cs"/>
              </a:rPr>
              <a:t>atau</a:t>
            </a:r>
            <a:r>
              <a:rPr kumimoji="0" lang="en-US" sz="2800" b="0" i="0" u="none" strike="noStrike" kern="1200" cap="none" spc="0" normalizeH="0" baseline="0" noProof="0" dirty="0">
                <a:ln>
                  <a:noFill/>
                </a:ln>
                <a:solidFill>
                  <a:schemeClr val="tx1"/>
                </a:solidFill>
                <a:effectLst/>
                <a:uLnTx/>
                <a:uFillTx/>
                <a:latin typeface="Arial Narrow" panose="020B0606020202030204" pitchFamily="34" charset="0"/>
                <a:ea typeface="+mn-ea"/>
                <a:cs typeface="+mn-cs"/>
              </a:rPr>
              <a:t> </a:t>
            </a:r>
            <a:r>
              <a:rPr kumimoji="0" lang="en-US" sz="2800" b="0" i="0" u="none" strike="noStrike" kern="1200" cap="none" spc="0" normalizeH="0" baseline="0" noProof="0" dirty="0" err="1">
                <a:ln>
                  <a:noFill/>
                </a:ln>
                <a:solidFill>
                  <a:schemeClr val="tx1"/>
                </a:solidFill>
                <a:effectLst/>
                <a:uLnTx/>
                <a:uFillTx/>
                <a:latin typeface="Arial Narrow" panose="020B0606020202030204" pitchFamily="34" charset="0"/>
                <a:ea typeface="+mn-ea"/>
                <a:cs typeface="+mn-cs"/>
              </a:rPr>
              <a:t>kombinasinya</a:t>
            </a:r>
            <a:r>
              <a:rPr kumimoji="0" lang="en-US" sz="2800" b="0" i="0" u="none" strike="noStrike" kern="1200" cap="none" spc="0" normalizeH="0" baseline="0" noProof="0" dirty="0">
                <a:ln>
                  <a:noFill/>
                </a:ln>
                <a:solidFill>
                  <a:schemeClr val="tx1"/>
                </a:solidFill>
                <a:effectLst/>
                <a:uLnTx/>
                <a:uFillTx/>
                <a:latin typeface="Arial Narrow" panose="020B0606020202030204" pitchFamily="34" charset="0"/>
                <a:ea typeface="+mn-ea"/>
                <a:cs typeface="+mn-cs"/>
              </a:rPr>
              <a:t>.</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14" name="Line Callout 2 13"/>
          <p:cNvSpPr/>
          <p:nvPr/>
        </p:nvSpPr>
        <p:spPr>
          <a:xfrm>
            <a:off x="1357313" y="4643438"/>
            <a:ext cx="4429125" cy="1071563"/>
          </a:xfrm>
          <a:prstGeom prst="borderCallout2">
            <a:avLst>
              <a:gd name="adj1" fmla="val 28618"/>
              <a:gd name="adj2" fmla="val -796"/>
              <a:gd name="adj3" fmla="val 28618"/>
              <a:gd name="adj4" fmla="val -6836"/>
              <a:gd name="adj5" fmla="val -249318"/>
              <a:gd name="adj6" fmla="val -7671"/>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just" defTabSz="914400" rtl="0" eaLnBrk="0" fontAlgn="base" latinLnBrk="0" hangingPunct="0">
              <a:lnSpc>
                <a:spcPct val="100000"/>
              </a:lnSpc>
              <a:spcBef>
                <a:spcPct val="20000"/>
              </a:spcBef>
              <a:spcAft>
                <a:spcPct val="0"/>
              </a:spcAft>
              <a:buClrTx/>
              <a:buSzTx/>
              <a:buFontTx/>
              <a:buNone/>
              <a:defRPr/>
            </a:pPr>
            <a:r>
              <a:rPr kumimoji="0" lang="sv-SE" sz="2800" b="0" i="0" u="none" strike="noStrike" kern="1200" cap="none" spc="0" normalizeH="0" baseline="0" noProof="0" dirty="0">
                <a:ln>
                  <a:noFill/>
                </a:ln>
                <a:solidFill>
                  <a:schemeClr val="tx1"/>
                </a:solidFill>
                <a:effectLst/>
                <a:uLnTx/>
                <a:uFillTx/>
                <a:latin typeface="Arial Narrow" panose="020B0606020202030204" pitchFamily="34" charset="0"/>
                <a:ea typeface="+mn-ea"/>
                <a:cs typeface="+mn-cs"/>
              </a:rPr>
              <a:t>markas / tempat berkumpul / tempat bersarang / gudang</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txBox="1"/>
          <p:nvPr/>
        </p:nvSpPr>
        <p:spPr>
          <a:xfrm>
            <a:off x="457200" y="187325"/>
            <a:ext cx="8229600" cy="868363"/>
          </a:xfrm>
          <a:prstGeom prst="rect">
            <a:avLst/>
          </a:prstGeom>
        </p:spPr>
        <p:txBody>
          <a:bodyPr anchor="ctr"/>
          <a:lstStyle/>
          <a:p>
            <a:pPr marR="0" algn="ctr" defTabSz="914400" eaLnBrk="0" hangingPunct="0">
              <a:buClrTx/>
              <a:buSzTx/>
              <a:buFontTx/>
              <a:buNone/>
              <a:defRPr/>
            </a:pPr>
            <a:r>
              <a:rPr kumimoji="0" lang="en-US" sz="4000" kern="0" cap="none" spc="0" normalizeH="0" baseline="0" noProof="0" dirty="0">
                <a:solidFill>
                  <a:srgbClr val="FFFFCC"/>
                </a:solidFill>
                <a:latin typeface="Arial" panose="020B0604020202020204" pitchFamily="34" charset="0"/>
                <a:ea typeface="+mn-ea"/>
                <a:cs typeface="Arial" panose="020B0604020202020204" pitchFamily="34" charset="0"/>
              </a:rPr>
              <a:t>DEFINISI BASIS DATA (2)</a:t>
            </a:r>
            <a:endParaRPr kumimoji="0" lang="en-US" sz="4000" kern="0" cap="none" spc="0" normalizeH="0" baseline="0" noProof="0" dirty="0">
              <a:solidFill>
                <a:srgbClr val="FFFFCC"/>
              </a:solidFill>
              <a:latin typeface="Arial" panose="020B0604020202020204" pitchFamily="34" charset="0"/>
              <a:ea typeface="+mn-ea"/>
              <a:cs typeface="Arial" panose="020B0604020202020204" pitchFamily="34" charset="0"/>
            </a:endParaRPr>
          </a:p>
        </p:txBody>
      </p:sp>
      <p:sp>
        <p:nvSpPr>
          <p:cNvPr id="3" name="Content Placeholder 2"/>
          <p:cNvSpPr txBox="1"/>
          <p:nvPr/>
        </p:nvSpPr>
        <p:spPr>
          <a:xfrm>
            <a:off x="214313" y="1054100"/>
            <a:ext cx="8643938" cy="4911725"/>
          </a:xfrm>
          <a:prstGeom prst="rect">
            <a:avLst/>
          </a:prstGeom>
        </p:spPr>
        <p:txBody>
          <a:bodyPr/>
          <a:lstStyle/>
          <a:p>
            <a:pPr marR="0" algn="just" defTabSz="914400">
              <a:buClrTx/>
              <a:buSzTx/>
              <a:buFontTx/>
              <a:buNone/>
              <a:defRPr/>
            </a:pP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BASIS DATA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Ramakrishnan</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dan</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Gehrke</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2003):</a:t>
            </a:r>
            <a:endPar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endParaRPr>
          </a:p>
          <a:p>
            <a:pPr marL="363855" marR="0" indent="-363855" algn="just" defTabSz="914400">
              <a:buClrTx/>
              <a:buSzTx/>
              <a:buFont typeface="Wingdings" panose="05000000000000000000" pitchFamily="2" charset="2"/>
              <a:buChar char="ü"/>
              <a:defRPr/>
            </a:pP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kumpulan</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data,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umumnya</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mendiskripsikan</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aktivitas</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satu</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organisasi</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atau</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lebih</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yang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berhubungan</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Misalnya</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basis data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universitas</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mungkin</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berisi</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informasi</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mengenai</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hal</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berikut</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endPar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endParaRPr>
          </a:p>
          <a:p>
            <a:pPr marL="711200" marR="0" indent="-363855" algn="just" defTabSz="914400">
              <a:buClrTx/>
              <a:buSzTx/>
              <a:buFont typeface="Courier New" panose="02070309020205020404" pitchFamily="49" charset="0"/>
              <a:buChar char="o"/>
              <a:defRPr/>
            </a:pP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Hubungan</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antar</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entitas</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seperti</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registrasi</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mahasiswa</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dalam</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matakuliah</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fakultas</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yang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mengajarkan</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matakuliah</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dan</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pengguna</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ruang</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kuliah</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a:t>
            </a:r>
            <a:endPar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endParaRPr>
          </a:p>
          <a:p>
            <a:pPr marL="711200" marR="0" indent="-363855" algn="just" defTabSz="914400">
              <a:buClrTx/>
              <a:buSzTx/>
              <a:buFont typeface="Courier New" panose="02070309020205020404" pitchFamily="49" charset="0"/>
              <a:buChar char="o"/>
              <a:defRPr/>
            </a:pP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Entitas</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seperti</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mahasiswa</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fakultas</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mata</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kuliah</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dan</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ruang</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kuliah</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endPar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endParaRPr>
          </a:p>
          <a:p>
            <a:pPr marL="342900" marR="0" indent="-342900" algn="just" defTabSz="914400" eaLnBrk="0" hangingPunct="0">
              <a:spcBef>
                <a:spcPct val="20000"/>
              </a:spcBef>
              <a:buClrTx/>
              <a:buSzTx/>
              <a:buFontTx/>
              <a:buChar char="•"/>
              <a:defRPr/>
            </a:pPr>
            <a:endParaRPr kumimoji="0" lang="en-US" sz="2800" kern="0" cap="none" spc="0" normalizeH="0" baseline="0" noProof="0" dirty="0">
              <a:solidFill>
                <a:srgbClr val="CCECFF"/>
              </a:solidFill>
              <a:latin typeface="Arial Narrow" panose="020B0606020202030204" pitchFamily="34" charset="0"/>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txBox="1"/>
          <p:nvPr/>
        </p:nvSpPr>
        <p:spPr>
          <a:xfrm>
            <a:off x="457200" y="187325"/>
            <a:ext cx="8229600" cy="868363"/>
          </a:xfrm>
          <a:prstGeom prst="rect">
            <a:avLst/>
          </a:prstGeom>
        </p:spPr>
        <p:txBody>
          <a:bodyPr anchor="ctr"/>
          <a:lstStyle/>
          <a:p>
            <a:pPr marR="0" algn="ctr" defTabSz="914400" eaLnBrk="0" hangingPunct="0">
              <a:buClrTx/>
              <a:buSzTx/>
              <a:buFontTx/>
              <a:buNone/>
              <a:defRPr/>
            </a:pPr>
            <a:r>
              <a:rPr kumimoji="0" lang="en-US" sz="4000" kern="0" cap="none" spc="0" normalizeH="0" baseline="0" noProof="0" dirty="0">
                <a:solidFill>
                  <a:srgbClr val="FFFFCC"/>
                </a:solidFill>
                <a:latin typeface="Arial" panose="020B0604020202020204" pitchFamily="34" charset="0"/>
                <a:ea typeface="+mn-ea"/>
                <a:cs typeface="Arial" panose="020B0604020202020204" pitchFamily="34" charset="0"/>
              </a:rPr>
              <a:t>DEFINISI BASIS DATA (3)</a:t>
            </a:r>
            <a:endParaRPr kumimoji="0" lang="en-US" sz="4000" kern="0" cap="none" spc="0" normalizeH="0" baseline="0" noProof="0" dirty="0">
              <a:solidFill>
                <a:srgbClr val="FFFFCC"/>
              </a:solidFill>
              <a:latin typeface="Arial" panose="020B0604020202020204" pitchFamily="34" charset="0"/>
              <a:ea typeface="+mn-ea"/>
              <a:cs typeface="Arial" panose="020B0604020202020204" pitchFamily="34" charset="0"/>
            </a:endParaRPr>
          </a:p>
        </p:txBody>
      </p:sp>
      <p:sp>
        <p:nvSpPr>
          <p:cNvPr id="3" name="Content Placeholder 2"/>
          <p:cNvSpPr txBox="1"/>
          <p:nvPr/>
        </p:nvSpPr>
        <p:spPr>
          <a:xfrm>
            <a:off x="214313" y="1054100"/>
            <a:ext cx="8643938" cy="4911725"/>
          </a:xfrm>
          <a:prstGeom prst="rect">
            <a:avLst/>
          </a:prstGeom>
        </p:spPr>
        <p:txBody>
          <a:bodyPr/>
          <a:lstStyle/>
          <a:p>
            <a:pPr marR="0" algn="just" defTabSz="914400">
              <a:buClrTx/>
              <a:buSzTx/>
              <a:buFontTx/>
              <a:buNone/>
              <a:defRPr/>
            </a:pP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BASIS DATA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Fathansyah</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1999):</a:t>
            </a:r>
            <a:endPar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endParaRPr>
          </a:p>
          <a:p>
            <a:pPr marL="363855" marR="0" indent="-363855" algn="just" defTabSz="914400">
              <a:buClrTx/>
              <a:buSzTx/>
              <a:buFont typeface="Wingdings" panose="05000000000000000000" pitchFamily="2" charset="2"/>
              <a:buChar char="ü"/>
              <a:defRPr/>
            </a:pP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Himpunan</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kelompok</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data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arsip</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yang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saling</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berhubungan</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yang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diorganisasi</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sedemikian</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rupa</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agar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kelak</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dapat</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dimanfaatkan</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kembali</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dengan</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cepat</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dan</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mudah</a:t>
            </a:r>
            <a:endPar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endParaRPr>
          </a:p>
          <a:p>
            <a:pPr marL="363855" marR="0" indent="-363855" algn="just" defTabSz="914400">
              <a:buClrTx/>
              <a:buSzTx/>
              <a:buFont typeface="Wingdings" panose="05000000000000000000" pitchFamily="2" charset="2"/>
              <a:buChar char="ü"/>
              <a:defRPr/>
            </a:pP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Kumpulan data yang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salng</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berhubungan</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yang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disimpan</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secara</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bersama</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sedemikian</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rupa</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dan</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tanpa</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pengulangan</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i="1" kern="1200" cap="none" spc="0" normalizeH="0" baseline="0" noProof="0" dirty="0">
                <a:solidFill>
                  <a:srgbClr val="CCECFF"/>
                </a:solidFill>
                <a:latin typeface="Arial Narrow" panose="020B0606020202030204" pitchFamily="34" charset="0"/>
                <a:ea typeface="+mn-ea"/>
                <a:cs typeface="Arial" panose="020B0604020202020204" pitchFamily="34" charset="0"/>
              </a:rPr>
              <a:t>redundancy</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yang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tidak</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perlu</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untuk</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memenuhi</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berbagai</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kebutuhan</a:t>
            </a:r>
            <a:endPar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endParaRPr>
          </a:p>
          <a:p>
            <a:pPr marL="363855" marR="0" indent="-363855" algn="just" defTabSz="914400">
              <a:buClrTx/>
              <a:buSzTx/>
              <a:buFont typeface="Wingdings" panose="05000000000000000000" pitchFamily="2" charset="2"/>
              <a:buChar char="ü"/>
              <a:defRPr/>
            </a:pP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Kumpulan file/</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tabel</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arsip</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yang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saling</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berhubungan</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yang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disimpan</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dalam</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media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penyimpanan</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elektronis</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a:t>
            </a:r>
            <a:endPar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endParaRPr>
          </a:p>
          <a:p>
            <a:pPr marL="342900" marR="0" indent="-342900" algn="just" defTabSz="914400" eaLnBrk="0" hangingPunct="0">
              <a:spcBef>
                <a:spcPct val="20000"/>
              </a:spcBef>
              <a:buClrTx/>
              <a:buSzTx/>
              <a:buFontTx/>
              <a:buChar char="•"/>
              <a:defRPr/>
            </a:pPr>
            <a:endParaRPr kumimoji="0" lang="en-US" sz="2800" kern="0" cap="none" spc="0" normalizeH="0" baseline="0" noProof="0" dirty="0">
              <a:solidFill>
                <a:srgbClr val="CCECFF"/>
              </a:solidFill>
              <a:latin typeface="Arial Narrow" panose="020B0606020202030204" pitchFamily="34" charset="0"/>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1"/>
          <p:cNvSpPr txBox="1"/>
          <p:nvPr/>
        </p:nvSpPr>
        <p:spPr>
          <a:xfrm>
            <a:off x="285720" y="2214554"/>
            <a:ext cx="8858280" cy="785818"/>
          </a:xfrm>
          <a:prstGeom prst="rect">
            <a:avLst/>
          </a:prstGeom>
        </p:spPr>
        <p:txBody>
          <a:bodyPr anchor="ctr"/>
          <a:lstStyle/>
          <a:p>
            <a:pPr marR="0" algn="ctr" defTabSz="914400" eaLnBrk="0" hangingPunct="0">
              <a:buClrTx/>
              <a:buSzTx/>
              <a:buFontTx/>
              <a:buNone/>
              <a:defRPr/>
            </a:pPr>
            <a:r>
              <a:rPr kumimoji="0" lang="en-US" sz="3200" b="1" kern="0" cap="none" spc="0" normalizeH="0" baseline="0" noProof="0" dirty="0">
                <a:ln w="900" cmpd="sng">
                  <a:solidFill>
                    <a:schemeClr val="accent1">
                      <a:satMod val="190000"/>
                      <a:alpha val="55000"/>
                    </a:schemeClr>
                  </a:solidFill>
                  <a:prstDash val="solid"/>
                </a:ln>
                <a:solidFill>
                  <a:schemeClr val="accent1">
                    <a:satMod val="200000"/>
                    <a:tint val="3000"/>
                  </a:schemeClr>
                </a:solidFill>
                <a:effectLst>
                  <a:innerShdw blurRad="101600" dist="76200" dir="5400000">
                    <a:schemeClr val="accent1">
                      <a:satMod val="190000"/>
                      <a:tint val="100000"/>
                      <a:alpha val="74000"/>
                    </a:schemeClr>
                  </a:innerShdw>
                </a:effectLst>
                <a:latin typeface="+mj-lt"/>
                <a:ea typeface="+mj-ea"/>
                <a:cs typeface="+mj-cs"/>
              </a:rPr>
              <a:t>SETIAP DATA ELEKTRONIS = BASIS DATA?</a:t>
            </a:r>
            <a:endParaRPr kumimoji="0" lang="en-US" sz="3200" b="1" kern="0" cap="none" spc="0" normalizeH="0" baseline="0" noProof="0" dirty="0">
              <a:ln w="900" cmpd="sng">
                <a:solidFill>
                  <a:schemeClr val="accent1">
                    <a:satMod val="190000"/>
                    <a:alpha val="55000"/>
                  </a:schemeClr>
                </a:solidFill>
                <a:prstDash val="solid"/>
              </a:ln>
              <a:solidFill>
                <a:schemeClr val="accent1">
                  <a:satMod val="200000"/>
                  <a:tint val="3000"/>
                </a:schemeClr>
              </a:solidFill>
              <a:effectLst>
                <a:innerShdw blurRad="101600" dist="76200" dir="5400000">
                  <a:schemeClr val="accent1">
                    <a:satMod val="190000"/>
                    <a:tint val="100000"/>
                    <a:alpha val="74000"/>
                  </a:schemeClr>
                </a:innerShdw>
              </a:effectLst>
              <a:latin typeface="+mj-lt"/>
              <a:ea typeface="+mj-ea"/>
              <a:cs typeface="+mj-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3"/>
          <p:cNvSpPr/>
          <p:nvPr/>
        </p:nvSpPr>
        <p:spPr>
          <a:xfrm>
            <a:off x="0" y="3143250"/>
            <a:ext cx="8715375" cy="1357313"/>
          </a:xfrm>
          <a:prstGeom prst="rect">
            <a:avLst/>
          </a:prstGeom>
          <a:solidFill>
            <a:srgbClr val="CC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3315" name="Rectangle 1"/>
          <p:cNvSpPr/>
          <p:nvPr/>
        </p:nvSpPr>
        <p:spPr>
          <a:xfrm>
            <a:off x="357188" y="1304925"/>
            <a:ext cx="8358187" cy="3416300"/>
          </a:xfrm>
          <a:prstGeom prst="rect">
            <a:avLst/>
          </a:prstGeom>
          <a:noFill/>
          <a:ln w="9525">
            <a:noFill/>
          </a:ln>
        </p:spPr>
        <p:txBody>
          <a:bodyPr>
            <a:spAutoFit/>
          </a:bodyPr>
          <a:p>
            <a:pPr algn="just"/>
            <a:r>
              <a:rPr lang="en-US" altLang="x-none" sz="2400" dirty="0">
                <a:solidFill>
                  <a:srgbClr val="CCECFF"/>
                </a:solidFill>
                <a:latin typeface="Arial Narrow" panose="020B0606020202030204" pitchFamily="34" charset="0"/>
              </a:rPr>
              <a:t>Badan Akademik universitas ABC selalu menggunakan komputer-yaitu aplikasi MS Word dan MS Excel untuk mencatat data-data mahasiswa, dosen dan mata kuliah. Bisakah dikatakan universitas ABC telah menerapkan basis data?</a:t>
            </a:r>
            <a:endParaRPr lang="en-US" altLang="x-none" sz="2400" dirty="0">
              <a:solidFill>
                <a:srgbClr val="CCECFF"/>
              </a:solidFill>
              <a:latin typeface="Arial Narrow" panose="020B0606020202030204" pitchFamily="34" charset="0"/>
            </a:endParaRPr>
          </a:p>
          <a:p>
            <a:pPr algn="just"/>
            <a:endParaRPr lang="en-US" altLang="x-none" sz="2400" dirty="0">
              <a:solidFill>
                <a:srgbClr val="CCECFF"/>
              </a:solidFill>
              <a:latin typeface="Arial Narrow" panose="020B0606020202030204" pitchFamily="34" charset="0"/>
            </a:endParaRPr>
          </a:p>
          <a:p>
            <a:pPr algn="just"/>
            <a:r>
              <a:rPr lang="en-US" altLang="x-none" sz="2400" b="1" dirty="0">
                <a:latin typeface="Arial Narrow" panose="020B0606020202030204" pitchFamily="34" charset="0"/>
              </a:rPr>
              <a:t>Jawaban:</a:t>
            </a:r>
            <a:endParaRPr lang="en-US" altLang="x-none" sz="2400" b="1" dirty="0">
              <a:latin typeface="Arial Narrow" panose="020B0606020202030204" pitchFamily="34" charset="0"/>
            </a:endParaRPr>
          </a:p>
          <a:p>
            <a:pPr algn="just"/>
            <a:r>
              <a:rPr lang="en-US" altLang="x-none" sz="2400" dirty="0">
                <a:latin typeface="Arial Narrow" panose="020B0606020202030204" pitchFamily="34" charset="0"/>
              </a:rPr>
              <a:t>Belum tentu, karena di dalam pengelolaannya belum tentu terdapat pemilahan dan pengelompokan data sesuai jenis / fungsi data.</a:t>
            </a:r>
            <a:endParaRPr lang="en-US" altLang="x-none" sz="2400" dirty="0">
              <a:latin typeface="Arial Narrow" panose="020B0606020202030204" pitchFamily="34" charset="0"/>
            </a:endParaRPr>
          </a:p>
          <a:p>
            <a:pPr algn="just"/>
            <a:endParaRPr lang="en-US" altLang="x-none" sz="2400" b="1" dirty="0">
              <a:latin typeface="Arial Narrow" panose="020B0606020202030204" pitchFamily="34" charset="0"/>
            </a:endParaRPr>
          </a:p>
        </p:txBody>
      </p:sp>
      <p:sp>
        <p:nvSpPr>
          <p:cNvPr id="3" name="Title 1"/>
          <p:cNvSpPr txBox="1"/>
          <p:nvPr/>
        </p:nvSpPr>
        <p:spPr>
          <a:xfrm>
            <a:off x="457200" y="214313"/>
            <a:ext cx="8229600" cy="841375"/>
          </a:xfrm>
          <a:prstGeom prst="rect">
            <a:avLst/>
          </a:prstGeom>
        </p:spPr>
        <p:txBody>
          <a:bodyPr anchor="ctr"/>
          <a:lstStyle/>
          <a:p>
            <a:pPr marR="0" algn="ctr" defTabSz="914400" eaLnBrk="0" hangingPunct="0">
              <a:buClrTx/>
              <a:buSzTx/>
              <a:buFontTx/>
              <a:buNone/>
              <a:defRPr/>
            </a:pPr>
            <a:r>
              <a:rPr kumimoji="0" lang="en-US" sz="3600" kern="0" cap="none" spc="0" normalizeH="0" baseline="0" noProof="0" dirty="0">
                <a:solidFill>
                  <a:srgbClr val="FFFFCC"/>
                </a:solidFill>
                <a:latin typeface="Arial" panose="020B0604020202020204" pitchFamily="34" charset="0"/>
                <a:ea typeface="+mn-ea"/>
                <a:cs typeface="Arial" panose="020B0604020202020204" pitchFamily="34" charset="0"/>
              </a:rPr>
              <a:t>CONTOH KASUS</a:t>
            </a:r>
            <a:endParaRPr kumimoji="0" lang="en-US" sz="3600" kern="0" cap="none" spc="0" normalizeH="0" baseline="0" noProof="0" dirty="0">
              <a:solidFill>
                <a:srgbClr val="FFFFCC"/>
              </a:solidFill>
              <a:latin typeface="Arial" panose="020B0604020202020204" pitchFamily="34" charset="0"/>
              <a:ea typeface="+mn-ea"/>
              <a:cs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Rectangle 4"/>
          <p:cNvSpPr/>
          <p:nvPr/>
        </p:nvSpPr>
        <p:spPr>
          <a:xfrm>
            <a:off x="0" y="328613"/>
            <a:ext cx="8715375" cy="642938"/>
          </a:xfrm>
          <a:prstGeom prst="rect">
            <a:avLst/>
          </a:prstGeom>
          <a:solidFill>
            <a:srgbClr val="CC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Rectangle 1"/>
          <p:cNvSpPr/>
          <p:nvPr/>
        </p:nvSpPr>
        <p:spPr>
          <a:xfrm>
            <a:off x="500063" y="2786063"/>
            <a:ext cx="3357563" cy="928688"/>
          </a:xfrm>
          <a:prstGeom prst="rect">
            <a:avLst/>
          </a:prstGeom>
          <a:solidFill>
            <a:srgbClr val="FFFF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3200" b="1" i="0" u="none" strike="noStrike" kern="1200" cap="none" spc="0" normalizeH="0" baseline="0" noProof="0" dirty="0" err="1">
                <a:ln>
                  <a:noFill/>
                </a:ln>
                <a:solidFill>
                  <a:schemeClr val="tx1"/>
                </a:solidFill>
                <a:effectLst/>
                <a:uLnTx/>
                <a:uFillTx/>
                <a:latin typeface="Arial Narrow" panose="020B0606020202030204" pitchFamily="34" charset="0"/>
                <a:ea typeface="+mn-ea"/>
                <a:cs typeface="+mn-cs"/>
              </a:rPr>
              <a:t>Sistem</a:t>
            </a:r>
            <a:r>
              <a:rPr kumimoji="0" lang="en-US" sz="3200" b="1" i="0" u="none" strike="noStrike" kern="1200" cap="none" spc="0" normalizeH="0" baseline="0" noProof="0" dirty="0">
                <a:ln>
                  <a:noFill/>
                </a:ln>
                <a:solidFill>
                  <a:schemeClr val="tx1"/>
                </a:solidFill>
                <a:effectLst/>
                <a:uLnTx/>
                <a:uFillTx/>
                <a:latin typeface="Arial Narrow" panose="020B0606020202030204" pitchFamily="34" charset="0"/>
                <a:ea typeface="+mn-ea"/>
                <a:cs typeface="+mn-cs"/>
              </a:rPr>
              <a:t> </a:t>
            </a:r>
            <a:r>
              <a:rPr kumimoji="0" lang="en-US" sz="3200" b="1" i="0" u="none" strike="noStrike" kern="1200" cap="none" spc="0" normalizeH="0" baseline="0" noProof="0" dirty="0" err="1">
                <a:ln>
                  <a:noFill/>
                </a:ln>
                <a:solidFill>
                  <a:schemeClr val="tx1"/>
                </a:solidFill>
                <a:effectLst/>
                <a:uLnTx/>
                <a:uFillTx/>
                <a:latin typeface="Arial Narrow" panose="020B0606020202030204" pitchFamily="34" charset="0"/>
                <a:ea typeface="+mn-ea"/>
                <a:cs typeface="+mn-cs"/>
              </a:rPr>
              <a:t>Akademik</a:t>
            </a:r>
            <a:endParaRPr kumimoji="0" lang="en-US" sz="3200" b="1" i="0" u="none" strike="noStrike" kern="1200" cap="none" spc="0" normalizeH="0" baseline="0" noProof="0" dirty="0">
              <a:ln>
                <a:noFill/>
              </a:ln>
              <a:solidFill>
                <a:schemeClr val="tx1"/>
              </a:solidFill>
              <a:effectLst/>
              <a:uLnTx/>
              <a:uFillTx/>
              <a:latin typeface="Arial Narrow" panose="020B0606020202030204" pitchFamily="34" charset="0"/>
              <a:ea typeface="+mn-ea"/>
              <a:cs typeface="+mn-cs"/>
            </a:endParaRPr>
          </a:p>
        </p:txBody>
      </p:sp>
      <p:sp>
        <p:nvSpPr>
          <p:cNvPr id="4" name="Title 1"/>
          <p:cNvSpPr txBox="1"/>
          <p:nvPr/>
        </p:nvSpPr>
        <p:spPr>
          <a:xfrm>
            <a:off x="457200" y="214313"/>
            <a:ext cx="4329113" cy="841375"/>
          </a:xfrm>
          <a:prstGeom prst="rect">
            <a:avLst/>
          </a:prstGeom>
        </p:spPr>
        <p:txBody>
          <a:bodyPr anchor="ctr"/>
          <a:lstStyle/>
          <a:p>
            <a:pPr marR="0" defTabSz="914400" eaLnBrk="0" hangingPunct="0">
              <a:buClrTx/>
              <a:buSzTx/>
              <a:buFontTx/>
              <a:buNone/>
              <a:defRPr/>
            </a:pPr>
            <a:r>
              <a:rPr kumimoji="0" lang="en-US" sz="3200" b="1" kern="0" cap="none" spc="0" normalizeH="0" baseline="0" noProof="0" dirty="0" err="1">
                <a:latin typeface="Arial Narrow" panose="020B0606020202030204" pitchFamily="34" charset="0"/>
                <a:ea typeface="+mn-ea"/>
                <a:cs typeface="Arial" panose="020B0604020202020204" pitchFamily="34" charset="0"/>
              </a:rPr>
              <a:t>Contoh</a:t>
            </a:r>
            <a:r>
              <a:rPr kumimoji="0" lang="en-US" sz="3200" b="1" kern="0" cap="none" spc="0" normalizeH="0" baseline="0" noProof="0" dirty="0">
                <a:latin typeface="Arial Narrow" panose="020B0606020202030204" pitchFamily="34" charset="0"/>
                <a:ea typeface="+mn-ea"/>
                <a:cs typeface="Arial" panose="020B0604020202020204" pitchFamily="34" charset="0"/>
              </a:rPr>
              <a:t> </a:t>
            </a:r>
            <a:r>
              <a:rPr kumimoji="0" lang="en-US" sz="3200" b="1" kern="0" cap="none" spc="0" normalizeH="0" baseline="0" noProof="0" dirty="0" err="1">
                <a:latin typeface="Arial Narrow" panose="020B0606020202030204" pitchFamily="34" charset="0"/>
                <a:ea typeface="+mn-ea"/>
                <a:cs typeface="Arial" panose="020B0604020202020204" pitchFamily="34" charset="0"/>
              </a:rPr>
              <a:t>Pemilahan</a:t>
            </a:r>
            <a:r>
              <a:rPr kumimoji="0" lang="en-US" sz="3200" b="1" kern="0" cap="none" spc="0" normalizeH="0" baseline="0" noProof="0" dirty="0">
                <a:latin typeface="Arial Narrow" panose="020B0606020202030204" pitchFamily="34" charset="0"/>
                <a:ea typeface="+mn-ea"/>
                <a:cs typeface="Arial" panose="020B0604020202020204" pitchFamily="34" charset="0"/>
              </a:rPr>
              <a:t> :</a:t>
            </a:r>
            <a:endParaRPr kumimoji="0" lang="en-US" sz="3200" b="1" kern="0" cap="none" spc="0" normalizeH="0" baseline="0" noProof="0" dirty="0">
              <a:latin typeface="Arial Narrow" panose="020B0606020202030204" pitchFamily="34" charset="0"/>
              <a:ea typeface="+mn-ea"/>
              <a:cs typeface="Arial" panose="020B0604020202020204" pitchFamily="34" charset="0"/>
            </a:endParaRPr>
          </a:p>
        </p:txBody>
      </p:sp>
      <p:sp>
        <p:nvSpPr>
          <p:cNvPr id="6" name="Line Callout 1 5"/>
          <p:cNvSpPr/>
          <p:nvPr/>
        </p:nvSpPr>
        <p:spPr>
          <a:xfrm>
            <a:off x="5572125" y="1643063"/>
            <a:ext cx="2428875" cy="642938"/>
          </a:xfrm>
          <a:prstGeom prst="borderCallout1">
            <a:avLst>
              <a:gd name="adj1" fmla="val 50355"/>
              <a:gd name="adj2" fmla="val -3552"/>
              <a:gd name="adj3" fmla="val 232147"/>
              <a:gd name="adj4" fmla="val -71199"/>
            </a:avLst>
          </a:prstGeom>
          <a:solidFill>
            <a:srgbClr val="00B0F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2400" b="0" i="0" u="none" strike="noStrike" kern="1200" cap="none" spc="0" normalizeH="0" baseline="0" noProof="0" dirty="0" err="1">
                <a:ln>
                  <a:noFill/>
                </a:ln>
                <a:solidFill>
                  <a:schemeClr val="tx1"/>
                </a:solidFill>
                <a:effectLst/>
                <a:uLnTx/>
                <a:uFillTx/>
                <a:latin typeface="Arial Narrow" panose="020B0606020202030204" pitchFamily="34" charset="0"/>
                <a:ea typeface="+mn-ea"/>
                <a:cs typeface="+mn-cs"/>
              </a:rPr>
              <a:t>Tabel</a:t>
            </a:r>
            <a:r>
              <a:rPr kumimoji="0" lang="en-US" sz="2400" b="0" i="0" u="none" strike="noStrike" kern="1200" cap="none" spc="0" normalizeH="0" baseline="0" noProof="0" dirty="0">
                <a:ln>
                  <a:noFill/>
                </a:ln>
                <a:solidFill>
                  <a:schemeClr val="tx1"/>
                </a:solidFill>
                <a:effectLst/>
                <a:uLnTx/>
                <a:uFillTx/>
                <a:latin typeface="Arial Narrow" panose="020B0606020202030204" pitchFamily="34" charset="0"/>
                <a:ea typeface="+mn-ea"/>
                <a:cs typeface="+mn-cs"/>
              </a:rPr>
              <a:t> </a:t>
            </a:r>
            <a:r>
              <a:rPr kumimoji="0" lang="en-US" sz="2400" b="0" i="0" u="none" strike="noStrike" kern="1200" cap="none" spc="0" normalizeH="0" baseline="0" noProof="0" dirty="0" err="1">
                <a:ln>
                  <a:noFill/>
                </a:ln>
                <a:solidFill>
                  <a:schemeClr val="tx1"/>
                </a:solidFill>
                <a:effectLst/>
                <a:uLnTx/>
                <a:uFillTx/>
                <a:latin typeface="Arial Narrow" panose="020B0606020202030204" pitchFamily="34" charset="0"/>
                <a:ea typeface="+mn-ea"/>
                <a:cs typeface="+mn-cs"/>
              </a:rPr>
              <a:t>Mahasiswa</a:t>
            </a:r>
            <a:endParaRPr kumimoji="0" lang="en-US" sz="2400" b="0" i="0" u="none" strike="noStrike" kern="1200" cap="none" spc="0" normalizeH="0" baseline="0" noProof="0" dirty="0">
              <a:ln>
                <a:noFill/>
              </a:ln>
              <a:solidFill>
                <a:schemeClr val="tx1"/>
              </a:solidFill>
              <a:effectLst/>
              <a:uLnTx/>
              <a:uFillTx/>
              <a:latin typeface="Arial Narrow" panose="020B0606020202030204" pitchFamily="34" charset="0"/>
              <a:ea typeface="+mn-ea"/>
              <a:cs typeface="+mn-cs"/>
            </a:endParaRPr>
          </a:p>
        </p:txBody>
      </p:sp>
      <p:sp>
        <p:nvSpPr>
          <p:cNvPr id="7" name="Line Callout 1 6"/>
          <p:cNvSpPr/>
          <p:nvPr/>
        </p:nvSpPr>
        <p:spPr>
          <a:xfrm>
            <a:off x="5572125" y="2428875"/>
            <a:ext cx="2428875" cy="642938"/>
          </a:xfrm>
          <a:prstGeom prst="borderCallout1">
            <a:avLst>
              <a:gd name="adj1" fmla="val 50355"/>
              <a:gd name="adj2" fmla="val -3552"/>
              <a:gd name="adj3" fmla="val 114757"/>
              <a:gd name="adj4" fmla="val -71199"/>
            </a:avLst>
          </a:prstGeom>
          <a:solidFill>
            <a:srgbClr val="00B0F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2400" b="0" i="0" u="none" strike="noStrike" kern="1200" cap="none" spc="0" normalizeH="0" baseline="0" noProof="0" dirty="0" err="1">
                <a:ln>
                  <a:noFill/>
                </a:ln>
                <a:solidFill>
                  <a:schemeClr val="tx1"/>
                </a:solidFill>
                <a:effectLst/>
                <a:uLnTx/>
                <a:uFillTx/>
                <a:latin typeface="Arial Narrow" panose="020B0606020202030204" pitchFamily="34" charset="0"/>
                <a:ea typeface="+mn-ea"/>
                <a:cs typeface="+mn-cs"/>
              </a:rPr>
              <a:t>Tabel</a:t>
            </a:r>
            <a:r>
              <a:rPr kumimoji="0" lang="en-US" sz="2400" b="0" i="0" u="none" strike="noStrike" kern="1200" cap="none" spc="0" normalizeH="0" baseline="0" noProof="0" dirty="0">
                <a:ln>
                  <a:noFill/>
                </a:ln>
                <a:solidFill>
                  <a:schemeClr val="tx1"/>
                </a:solidFill>
                <a:effectLst/>
                <a:uLnTx/>
                <a:uFillTx/>
                <a:latin typeface="Arial Narrow" panose="020B0606020202030204" pitchFamily="34" charset="0"/>
                <a:ea typeface="+mn-ea"/>
                <a:cs typeface="+mn-cs"/>
              </a:rPr>
              <a:t> </a:t>
            </a:r>
            <a:r>
              <a:rPr kumimoji="0" lang="en-US" sz="2400" b="0" i="0" u="none" strike="noStrike" kern="1200" cap="none" spc="0" normalizeH="0" baseline="0" noProof="0" dirty="0" err="1">
                <a:ln>
                  <a:noFill/>
                </a:ln>
                <a:solidFill>
                  <a:schemeClr val="tx1"/>
                </a:solidFill>
                <a:effectLst/>
                <a:uLnTx/>
                <a:uFillTx/>
                <a:latin typeface="Arial Narrow" panose="020B0606020202030204" pitchFamily="34" charset="0"/>
                <a:ea typeface="+mn-ea"/>
                <a:cs typeface="+mn-cs"/>
              </a:rPr>
              <a:t>Dosen</a:t>
            </a:r>
            <a:endParaRPr kumimoji="0" lang="en-US" sz="2400" b="0" i="0" u="none" strike="noStrike" kern="1200" cap="none" spc="0" normalizeH="0" baseline="0" noProof="0" dirty="0">
              <a:ln>
                <a:noFill/>
              </a:ln>
              <a:solidFill>
                <a:schemeClr val="tx1"/>
              </a:solidFill>
              <a:effectLst/>
              <a:uLnTx/>
              <a:uFillTx/>
              <a:latin typeface="Arial Narrow" panose="020B0606020202030204" pitchFamily="34" charset="0"/>
              <a:ea typeface="+mn-ea"/>
              <a:cs typeface="+mn-cs"/>
            </a:endParaRPr>
          </a:p>
        </p:txBody>
      </p:sp>
      <p:sp>
        <p:nvSpPr>
          <p:cNvPr id="8" name="Line Callout 1 7"/>
          <p:cNvSpPr/>
          <p:nvPr/>
        </p:nvSpPr>
        <p:spPr>
          <a:xfrm>
            <a:off x="5572125" y="3214688"/>
            <a:ext cx="2428875" cy="642938"/>
          </a:xfrm>
          <a:prstGeom prst="borderCallout1">
            <a:avLst>
              <a:gd name="adj1" fmla="val 50355"/>
              <a:gd name="adj2" fmla="val -3552"/>
              <a:gd name="adj3" fmla="val 4141"/>
              <a:gd name="adj4" fmla="val -70004"/>
            </a:avLst>
          </a:prstGeom>
          <a:solidFill>
            <a:srgbClr val="00B0F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2400" b="0" i="0" u="none" strike="noStrike" kern="1200" cap="none" spc="0" normalizeH="0" baseline="0" noProof="0" dirty="0" err="1">
                <a:ln>
                  <a:noFill/>
                </a:ln>
                <a:solidFill>
                  <a:schemeClr val="tx1"/>
                </a:solidFill>
                <a:effectLst/>
                <a:uLnTx/>
                <a:uFillTx/>
                <a:latin typeface="Arial Narrow" panose="020B0606020202030204" pitchFamily="34" charset="0"/>
                <a:ea typeface="+mn-ea"/>
                <a:cs typeface="+mn-cs"/>
              </a:rPr>
              <a:t>Tabel</a:t>
            </a:r>
            <a:r>
              <a:rPr kumimoji="0" lang="en-US" sz="2400" b="0" i="0" u="none" strike="noStrike" kern="1200" cap="none" spc="0" normalizeH="0" baseline="0" noProof="0" dirty="0">
                <a:ln>
                  <a:noFill/>
                </a:ln>
                <a:solidFill>
                  <a:schemeClr val="tx1"/>
                </a:solidFill>
                <a:effectLst/>
                <a:uLnTx/>
                <a:uFillTx/>
                <a:latin typeface="Arial Narrow" panose="020B0606020202030204" pitchFamily="34" charset="0"/>
                <a:ea typeface="+mn-ea"/>
                <a:cs typeface="+mn-cs"/>
              </a:rPr>
              <a:t> </a:t>
            </a:r>
            <a:r>
              <a:rPr kumimoji="0" lang="en-US" sz="2400" b="0" i="0" u="none" strike="noStrike" kern="1200" cap="none" spc="0" normalizeH="0" baseline="0" noProof="0" dirty="0" err="1">
                <a:ln>
                  <a:noFill/>
                </a:ln>
                <a:solidFill>
                  <a:schemeClr val="tx1"/>
                </a:solidFill>
                <a:effectLst/>
                <a:uLnTx/>
                <a:uFillTx/>
                <a:latin typeface="Arial Narrow" panose="020B0606020202030204" pitchFamily="34" charset="0"/>
                <a:ea typeface="+mn-ea"/>
                <a:cs typeface="+mn-cs"/>
              </a:rPr>
              <a:t>Matakuliah</a:t>
            </a:r>
            <a:endParaRPr kumimoji="0" lang="en-US" sz="2400" b="0" i="0" u="none" strike="noStrike" kern="1200" cap="none" spc="0" normalizeH="0" baseline="0" noProof="0" dirty="0">
              <a:ln>
                <a:noFill/>
              </a:ln>
              <a:solidFill>
                <a:schemeClr val="tx1"/>
              </a:solidFill>
              <a:effectLst/>
              <a:uLnTx/>
              <a:uFillTx/>
              <a:latin typeface="Arial Narrow" panose="020B0606020202030204" pitchFamily="34" charset="0"/>
              <a:ea typeface="+mn-ea"/>
              <a:cs typeface="+mn-cs"/>
            </a:endParaRPr>
          </a:p>
        </p:txBody>
      </p:sp>
      <p:sp>
        <p:nvSpPr>
          <p:cNvPr id="9" name="Line Callout 1 8"/>
          <p:cNvSpPr/>
          <p:nvPr/>
        </p:nvSpPr>
        <p:spPr>
          <a:xfrm>
            <a:off x="5572125" y="4000500"/>
            <a:ext cx="2428875" cy="642938"/>
          </a:xfrm>
          <a:prstGeom prst="borderCallout1">
            <a:avLst>
              <a:gd name="adj1" fmla="val 50355"/>
              <a:gd name="adj2" fmla="val -3552"/>
              <a:gd name="adj3" fmla="val -113248"/>
              <a:gd name="adj4" fmla="val -70602"/>
            </a:avLst>
          </a:prstGeom>
          <a:solidFill>
            <a:srgbClr val="00B0F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2400" b="0" i="0" u="none" strike="noStrike" kern="1200" cap="none" spc="0" normalizeH="0" baseline="0" noProof="0" dirty="0" err="1">
                <a:ln>
                  <a:noFill/>
                </a:ln>
                <a:solidFill>
                  <a:schemeClr val="tx1"/>
                </a:solidFill>
                <a:effectLst/>
                <a:uLnTx/>
                <a:uFillTx/>
                <a:latin typeface="Arial Narrow" panose="020B0606020202030204" pitchFamily="34" charset="0"/>
                <a:ea typeface="+mn-ea"/>
                <a:cs typeface="+mn-cs"/>
              </a:rPr>
              <a:t>Tabel</a:t>
            </a:r>
            <a:r>
              <a:rPr kumimoji="0" lang="en-US" sz="2400" b="0" i="0" u="none" strike="noStrike" kern="1200" cap="none" spc="0" normalizeH="0" baseline="0" noProof="0" dirty="0">
                <a:ln>
                  <a:noFill/>
                </a:ln>
                <a:solidFill>
                  <a:schemeClr val="tx1"/>
                </a:solidFill>
                <a:effectLst/>
                <a:uLnTx/>
                <a:uFillTx/>
                <a:latin typeface="Arial Narrow" panose="020B0606020202030204" pitchFamily="34" charset="0"/>
                <a:ea typeface="+mn-ea"/>
                <a:cs typeface="+mn-cs"/>
              </a:rPr>
              <a:t> </a:t>
            </a:r>
            <a:r>
              <a:rPr kumimoji="0" lang="en-US" sz="2400" b="0" i="0" u="none" strike="noStrike" kern="1200" cap="none" spc="0" normalizeH="0" baseline="0" noProof="0" dirty="0" err="1">
                <a:ln>
                  <a:noFill/>
                </a:ln>
                <a:solidFill>
                  <a:schemeClr val="tx1"/>
                </a:solidFill>
                <a:effectLst/>
                <a:uLnTx/>
                <a:uFillTx/>
                <a:latin typeface="Arial Narrow" panose="020B0606020202030204" pitchFamily="34" charset="0"/>
                <a:ea typeface="+mn-ea"/>
                <a:cs typeface="+mn-cs"/>
              </a:rPr>
              <a:t>Jadwal</a:t>
            </a:r>
            <a:endParaRPr kumimoji="0" lang="en-US" sz="2400" b="0" i="0" u="none" strike="noStrike" kern="1200" cap="none" spc="0" normalizeH="0" baseline="0" noProof="0" dirty="0">
              <a:ln>
                <a:noFill/>
              </a:ln>
              <a:solidFill>
                <a:schemeClr val="tx1"/>
              </a:solidFill>
              <a:effectLst/>
              <a:uLnTx/>
              <a:uFillTx/>
              <a:latin typeface="Arial Narrow" panose="020B0606020202030204" pitchFamily="34" charset="0"/>
              <a:ea typeface="+mn-ea"/>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Rectangle 4"/>
          <p:cNvSpPr/>
          <p:nvPr/>
        </p:nvSpPr>
        <p:spPr>
          <a:xfrm>
            <a:off x="0" y="3649663"/>
            <a:ext cx="5786438" cy="428625"/>
          </a:xfrm>
          <a:prstGeom prst="rect">
            <a:avLst/>
          </a:prstGeom>
          <a:solidFill>
            <a:srgbClr val="CC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 name="Rectangle 3"/>
          <p:cNvSpPr/>
          <p:nvPr/>
        </p:nvSpPr>
        <p:spPr>
          <a:xfrm>
            <a:off x="0" y="1084263"/>
            <a:ext cx="5786438" cy="428625"/>
          </a:xfrm>
          <a:prstGeom prst="rect">
            <a:avLst/>
          </a:prstGeom>
          <a:solidFill>
            <a:srgbClr val="CC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Title 1"/>
          <p:cNvSpPr txBox="1"/>
          <p:nvPr/>
        </p:nvSpPr>
        <p:spPr>
          <a:xfrm>
            <a:off x="457200" y="214313"/>
            <a:ext cx="8229600" cy="841375"/>
          </a:xfrm>
          <a:prstGeom prst="rect">
            <a:avLst/>
          </a:prstGeom>
        </p:spPr>
        <p:txBody>
          <a:bodyPr anchor="ctr"/>
          <a:lstStyle/>
          <a:p>
            <a:pPr marR="0" algn="ctr" defTabSz="914400" eaLnBrk="0" hangingPunct="0">
              <a:buClrTx/>
              <a:buSzTx/>
              <a:buFontTx/>
              <a:buNone/>
              <a:defRPr/>
            </a:pPr>
            <a:r>
              <a:rPr kumimoji="0" lang="en-US" sz="3600" kern="0" cap="none" spc="0" normalizeH="0" baseline="0" noProof="0" dirty="0">
                <a:solidFill>
                  <a:srgbClr val="FFFFCC"/>
                </a:solidFill>
                <a:latin typeface="Arial" panose="020B0604020202020204" pitchFamily="34" charset="0"/>
                <a:ea typeface="+mn-ea"/>
                <a:cs typeface="Arial" panose="020B0604020202020204" pitchFamily="34" charset="0"/>
              </a:rPr>
              <a:t>OBJEKTIF/TUJUAN BASIS DATA (1)</a:t>
            </a:r>
            <a:endParaRPr kumimoji="0" lang="en-US" sz="3600" kern="0" cap="none" spc="0" normalizeH="0" baseline="0" noProof="0" dirty="0">
              <a:solidFill>
                <a:srgbClr val="FFFFCC"/>
              </a:solidFill>
              <a:latin typeface="Arial" panose="020B0604020202020204" pitchFamily="34" charset="0"/>
              <a:ea typeface="+mn-ea"/>
              <a:cs typeface="Arial" panose="020B0604020202020204" pitchFamily="34" charset="0"/>
            </a:endParaRPr>
          </a:p>
        </p:txBody>
      </p:sp>
      <p:sp>
        <p:nvSpPr>
          <p:cNvPr id="3" name="Content Placeholder 2"/>
          <p:cNvSpPr txBox="1"/>
          <p:nvPr/>
        </p:nvSpPr>
        <p:spPr>
          <a:xfrm>
            <a:off x="214313" y="1054100"/>
            <a:ext cx="8643938" cy="4911725"/>
          </a:xfrm>
          <a:prstGeom prst="rect">
            <a:avLst/>
          </a:prstGeom>
        </p:spPr>
        <p:txBody>
          <a:bodyPr/>
          <a:lstStyle/>
          <a:p>
            <a:pPr marL="457200" marR="0" indent="-457200" algn="just" defTabSz="914400">
              <a:buClrTx/>
              <a:buSzTx/>
              <a:buFont typeface="+mj-lt"/>
              <a:buAutoNum type="arabicPeriod"/>
              <a:defRPr/>
            </a:pPr>
            <a:r>
              <a:rPr kumimoji="0" lang="en-US" sz="2400" b="1" kern="1200" cap="none" spc="0" normalizeH="0" baseline="0" noProof="0" dirty="0" err="1">
                <a:latin typeface="Arial Narrow" panose="020B0606020202030204" pitchFamily="34" charset="0"/>
                <a:ea typeface="+mn-ea"/>
                <a:cs typeface="Arial" panose="020B0604020202020204" pitchFamily="34" charset="0"/>
              </a:rPr>
              <a:t>Kecepatan</a:t>
            </a:r>
            <a:r>
              <a:rPr kumimoji="0" lang="en-US" sz="2400" b="1" kern="1200" cap="none" spc="0" normalizeH="0" baseline="0" noProof="0" dirty="0">
                <a:latin typeface="Arial Narrow" panose="020B0606020202030204" pitchFamily="34" charset="0"/>
                <a:ea typeface="+mn-ea"/>
                <a:cs typeface="Arial" panose="020B0604020202020204" pitchFamily="34" charset="0"/>
              </a:rPr>
              <a:t> </a:t>
            </a:r>
            <a:r>
              <a:rPr kumimoji="0" lang="en-US" sz="2400" b="1" kern="1200" cap="none" spc="0" normalizeH="0" baseline="0" noProof="0" dirty="0" err="1">
                <a:latin typeface="Arial Narrow" panose="020B0606020202030204" pitchFamily="34" charset="0"/>
                <a:ea typeface="+mn-ea"/>
                <a:cs typeface="Arial" panose="020B0604020202020204" pitchFamily="34" charset="0"/>
              </a:rPr>
              <a:t>dan</a:t>
            </a:r>
            <a:r>
              <a:rPr kumimoji="0" lang="en-US" sz="2400" b="1" kern="1200" cap="none" spc="0" normalizeH="0" baseline="0" noProof="0" dirty="0">
                <a:latin typeface="Arial Narrow" panose="020B0606020202030204" pitchFamily="34" charset="0"/>
                <a:ea typeface="+mn-ea"/>
                <a:cs typeface="Arial" panose="020B0604020202020204" pitchFamily="34" charset="0"/>
              </a:rPr>
              <a:t> </a:t>
            </a:r>
            <a:r>
              <a:rPr kumimoji="0" lang="en-US" sz="2400" b="1" kern="1200" cap="none" spc="0" normalizeH="0" baseline="0" noProof="0" dirty="0" err="1">
                <a:latin typeface="Arial Narrow" panose="020B0606020202030204" pitchFamily="34" charset="0"/>
                <a:ea typeface="+mn-ea"/>
                <a:cs typeface="Arial" panose="020B0604020202020204" pitchFamily="34" charset="0"/>
              </a:rPr>
              <a:t>Kemudahan</a:t>
            </a:r>
            <a:r>
              <a:rPr kumimoji="0" lang="en-US" sz="2400" b="1" kern="1200" cap="none" spc="0" normalizeH="0" baseline="0" noProof="0" dirty="0">
                <a:latin typeface="Arial Narrow" panose="020B0606020202030204" pitchFamily="34" charset="0"/>
                <a:ea typeface="+mn-ea"/>
                <a:cs typeface="Arial" panose="020B0604020202020204" pitchFamily="34" charset="0"/>
              </a:rPr>
              <a:t> (</a:t>
            </a:r>
            <a:r>
              <a:rPr kumimoji="0" lang="en-US" sz="2400" b="1" i="1" kern="1200" cap="none" spc="0" normalizeH="0" baseline="0" noProof="0" dirty="0">
                <a:latin typeface="Arial Narrow" panose="020B0606020202030204" pitchFamily="34" charset="0"/>
                <a:ea typeface="+mn-ea"/>
                <a:cs typeface="Arial" panose="020B0604020202020204" pitchFamily="34" charset="0"/>
              </a:rPr>
              <a:t>Speed</a:t>
            </a:r>
            <a:r>
              <a:rPr kumimoji="0" lang="en-US" sz="2400" b="1" kern="1200" cap="none" spc="0" normalizeH="0" baseline="0" noProof="0" dirty="0">
                <a:latin typeface="Arial Narrow" panose="020B0606020202030204" pitchFamily="34" charset="0"/>
                <a:ea typeface="+mn-ea"/>
                <a:cs typeface="Arial" panose="020B0604020202020204" pitchFamily="34" charset="0"/>
              </a:rPr>
              <a:t>)</a:t>
            </a:r>
            <a:endParaRPr kumimoji="0" lang="en-US" sz="2400" b="1" kern="1200" cap="none" spc="0" normalizeH="0" baseline="0" noProof="0" dirty="0">
              <a:latin typeface="Arial Narrow" panose="020B0606020202030204" pitchFamily="34" charset="0"/>
              <a:ea typeface="+mn-ea"/>
              <a:cs typeface="Arial" panose="020B0604020202020204" pitchFamily="34" charset="0"/>
            </a:endParaRPr>
          </a:p>
          <a:p>
            <a:pPr marL="457200" marR="0" indent="-8255" algn="just" defTabSz="914400">
              <a:buClrTx/>
              <a:buSzTx/>
              <a:buFontTx/>
              <a:buNone/>
              <a:defRPr/>
            </a:pP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Yakni</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agar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pengguna</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basis data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bisa</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endPar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endParaRPr>
          </a:p>
          <a:p>
            <a:pPr marL="812800" marR="0" indent="-363855" algn="just" defTabSz="914400">
              <a:buClrTx/>
              <a:buSzTx/>
              <a:buFont typeface="Wingdings" panose="05000000000000000000" pitchFamily="2" charset="2"/>
              <a:buChar char="§"/>
              <a:defRPr/>
            </a:pP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Menyimpan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data </a:t>
            </a:r>
            <a:endPar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endParaRPr>
          </a:p>
          <a:p>
            <a:pPr marL="812800" marR="0" indent="-363855" algn="just" defTabSz="914400">
              <a:buClrTx/>
              <a:buSzTx/>
              <a:buFont typeface="Wingdings" panose="05000000000000000000" pitchFamily="2" charset="2"/>
              <a:buChar char="§"/>
              <a:defRPr/>
            </a:pP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Melakukan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perubahan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manipulasi</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terhadap</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data </a:t>
            </a:r>
            <a:endPar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endParaRPr>
          </a:p>
          <a:p>
            <a:pPr marL="812800" marR="0" indent="-363855" algn="just" defTabSz="914400">
              <a:buClrTx/>
              <a:buSzTx/>
              <a:buFont typeface="Wingdings" panose="05000000000000000000" pitchFamily="2" charset="2"/>
              <a:buChar char="§"/>
              <a:defRPr/>
            </a:pP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Menampilkan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kembali</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data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dengan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lebih</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cepat</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mudah</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dibandingkan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dengan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cara</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biasa</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baik</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manual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ataupun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elektronis</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a:t>
            </a:r>
            <a:endPar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endParaRPr>
          </a:p>
          <a:p>
            <a:pPr marL="812800" marR="0" indent="-363855" algn="just" defTabSz="914400">
              <a:buClrTx/>
              <a:buSzTx/>
              <a:buFont typeface="Wingdings" panose="05000000000000000000" pitchFamily="2" charset="2"/>
              <a:buChar char="§"/>
              <a:defRPr/>
            </a:pPr>
            <a:endPar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endParaRPr>
          </a:p>
          <a:p>
            <a:pPr marL="457200" marR="0" indent="-457200" algn="just" defTabSz="914400">
              <a:buClrTx/>
              <a:buSzTx/>
              <a:buFontTx/>
              <a:buAutoNum type="arabicPeriod" startAt="2"/>
              <a:defRPr/>
            </a:pPr>
            <a:r>
              <a:rPr kumimoji="0" lang="en-US" sz="2400" b="1" kern="1200" cap="none" spc="0" normalizeH="0" baseline="0" noProof="0" dirty="0" err="1">
                <a:latin typeface="Arial Narrow" panose="020B0606020202030204" pitchFamily="34" charset="0"/>
                <a:ea typeface="+mn-ea"/>
                <a:cs typeface="Arial" panose="020B0604020202020204" pitchFamily="34" charset="0"/>
              </a:rPr>
              <a:t>Efisiensi</a:t>
            </a:r>
            <a:r>
              <a:rPr kumimoji="0" lang="en-US" sz="2400" b="1" kern="1200" cap="none" spc="0" normalizeH="0" baseline="0" noProof="0" dirty="0">
                <a:latin typeface="Arial Narrow" panose="020B0606020202030204" pitchFamily="34" charset="0"/>
                <a:ea typeface="+mn-ea"/>
                <a:cs typeface="Arial" panose="020B0604020202020204" pitchFamily="34" charset="0"/>
              </a:rPr>
              <a:t> </a:t>
            </a:r>
            <a:r>
              <a:rPr kumimoji="0" lang="en-US" sz="2400" b="1" kern="1200" cap="none" spc="0" normalizeH="0" baseline="0" noProof="0" dirty="0" err="1">
                <a:latin typeface="Arial Narrow" panose="020B0606020202030204" pitchFamily="34" charset="0"/>
                <a:ea typeface="+mn-ea"/>
                <a:cs typeface="Arial" panose="020B0604020202020204" pitchFamily="34" charset="0"/>
              </a:rPr>
              <a:t>Ruang</a:t>
            </a:r>
            <a:r>
              <a:rPr kumimoji="0" lang="en-US" sz="2400" b="1" kern="1200" cap="none" spc="0" normalizeH="0" baseline="0" noProof="0" dirty="0">
                <a:latin typeface="Arial Narrow" panose="020B0606020202030204" pitchFamily="34" charset="0"/>
                <a:ea typeface="+mn-ea"/>
                <a:cs typeface="Arial" panose="020B0604020202020204" pitchFamily="34" charset="0"/>
              </a:rPr>
              <a:t> </a:t>
            </a:r>
            <a:r>
              <a:rPr kumimoji="0" lang="en-US" sz="2400" b="1" kern="1200" cap="none" spc="0" normalizeH="0" baseline="0" noProof="0" dirty="0" err="1">
                <a:latin typeface="Arial Narrow" panose="020B0606020202030204" pitchFamily="34" charset="0"/>
                <a:ea typeface="+mn-ea"/>
                <a:cs typeface="Arial" panose="020B0604020202020204" pitchFamily="34" charset="0"/>
              </a:rPr>
              <a:t>Penyimpanan</a:t>
            </a:r>
            <a:r>
              <a:rPr kumimoji="0" lang="en-US" sz="2400" b="1" kern="1200" cap="none" spc="0" normalizeH="0" baseline="0" noProof="0" dirty="0">
                <a:latin typeface="Arial Narrow" panose="020B0606020202030204" pitchFamily="34" charset="0"/>
                <a:ea typeface="+mn-ea"/>
                <a:cs typeface="Arial" panose="020B0604020202020204" pitchFamily="34" charset="0"/>
              </a:rPr>
              <a:t> (</a:t>
            </a:r>
            <a:r>
              <a:rPr kumimoji="0" lang="en-US" sz="2400" b="1" i="1" kern="1200" cap="none" spc="0" normalizeH="0" baseline="0" noProof="0" dirty="0">
                <a:latin typeface="Arial Narrow" panose="020B0606020202030204" pitchFamily="34" charset="0"/>
                <a:ea typeface="+mn-ea"/>
                <a:cs typeface="Arial" panose="020B0604020202020204" pitchFamily="34" charset="0"/>
              </a:rPr>
              <a:t>Space</a:t>
            </a:r>
            <a:r>
              <a:rPr kumimoji="0" lang="en-US" sz="2400" b="1" kern="1200" cap="none" spc="0" normalizeH="0" baseline="0" noProof="0" dirty="0">
                <a:latin typeface="Arial Narrow" panose="020B0606020202030204" pitchFamily="34" charset="0"/>
                <a:ea typeface="+mn-ea"/>
                <a:cs typeface="Arial" panose="020B0604020202020204" pitchFamily="34" charset="0"/>
              </a:rPr>
              <a:t>)</a:t>
            </a:r>
            <a:endParaRPr kumimoji="0" lang="en-US" sz="2400" b="1" kern="1200" cap="none" spc="0" normalizeH="0" baseline="0" noProof="0" dirty="0">
              <a:latin typeface="Arial Narrow" panose="020B0606020202030204" pitchFamily="34" charset="0"/>
              <a:ea typeface="+mn-ea"/>
              <a:cs typeface="Arial" panose="020B0604020202020204" pitchFamily="34" charset="0"/>
            </a:endParaRPr>
          </a:p>
          <a:p>
            <a:pPr marL="457200" marR="0" indent="-457200" algn="just" defTabSz="914400">
              <a:buClrTx/>
              <a:buSzTx/>
              <a:buFontTx/>
              <a:buNone/>
              <a:defRPr/>
            </a:pP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Dengan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basis data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kita</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mampu</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melakukan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penekanan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jumlah</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redundansi</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pengulangan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data,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baik</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dengan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menerapkan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sejumlah</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pengkodean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atau</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dengan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membuat</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relasi-relasi</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antara</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kelompok</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data </a:t>
            </a:r>
            <a:endPar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endParaRPr>
          </a:p>
          <a:p>
            <a:pPr marL="457200" marR="0" indent="-457200" algn="just" defTabSz="914400">
              <a:buClrTx/>
              <a:buSzTx/>
              <a:buFontTx/>
              <a:buNone/>
              <a:defRPr/>
            </a:pP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yang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saling</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berhubungan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a:t>
            </a:r>
            <a:endPar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endParaRPr>
          </a:p>
          <a:p>
            <a:pPr marL="457200" marR="0" indent="-457200" algn="just" defTabSz="914400" eaLnBrk="0" hangingPunct="0">
              <a:spcBef>
                <a:spcPct val="20000"/>
              </a:spcBef>
              <a:buClrTx/>
              <a:buSzTx/>
              <a:buFont typeface="+mj-lt"/>
              <a:buAutoNum type="arabicPeriod"/>
              <a:defRPr/>
            </a:pPr>
            <a:endParaRPr kumimoji="0" lang="en-US" sz="2400" kern="0" cap="none" spc="0" normalizeH="0" baseline="0" noProof="0" dirty="0">
              <a:solidFill>
                <a:srgbClr val="CCECFF"/>
              </a:solidFill>
              <a:latin typeface="Arial Narrow" panose="020B0606020202030204" pitchFamily="34" charset="0"/>
              <a:ea typeface="+mn-ea"/>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Rectangle 4"/>
          <p:cNvSpPr/>
          <p:nvPr/>
        </p:nvSpPr>
        <p:spPr>
          <a:xfrm>
            <a:off x="0" y="3271838"/>
            <a:ext cx="5786438" cy="428625"/>
          </a:xfrm>
          <a:prstGeom prst="rect">
            <a:avLst/>
          </a:prstGeom>
          <a:solidFill>
            <a:srgbClr val="CC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 name="Rectangle 5"/>
          <p:cNvSpPr/>
          <p:nvPr/>
        </p:nvSpPr>
        <p:spPr>
          <a:xfrm>
            <a:off x="0" y="1084263"/>
            <a:ext cx="5786438" cy="428625"/>
          </a:xfrm>
          <a:prstGeom prst="rect">
            <a:avLst/>
          </a:prstGeom>
          <a:solidFill>
            <a:srgbClr val="CC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 name="Title 1"/>
          <p:cNvSpPr txBox="1"/>
          <p:nvPr/>
        </p:nvSpPr>
        <p:spPr>
          <a:xfrm>
            <a:off x="457200" y="214313"/>
            <a:ext cx="8229600" cy="841375"/>
          </a:xfrm>
          <a:prstGeom prst="rect">
            <a:avLst/>
          </a:prstGeom>
        </p:spPr>
        <p:txBody>
          <a:bodyPr anchor="ctr"/>
          <a:lstStyle/>
          <a:p>
            <a:pPr marR="0" algn="ctr" defTabSz="914400" eaLnBrk="0" hangingPunct="0">
              <a:buClrTx/>
              <a:buSzTx/>
              <a:buFontTx/>
              <a:buNone/>
              <a:defRPr/>
            </a:pPr>
            <a:r>
              <a:rPr kumimoji="0" lang="en-US" sz="3600" kern="0" cap="none" spc="0" normalizeH="0" baseline="0" noProof="0" dirty="0">
                <a:solidFill>
                  <a:srgbClr val="FFFFCC"/>
                </a:solidFill>
                <a:latin typeface="Arial" panose="020B0604020202020204" pitchFamily="34" charset="0"/>
                <a:ea typeface="+mn-ea"/>
                <a:cs typeface="Arial" panose="020B0604020202020204" pitchFamily="34" charset="0"/>
              </a:rPr>
              <a:t>OBJEKTIF/TUJUAN BASIS DATA (2)</a:t>
            </a:r>
            <a:endParaRPr kumimoji="0" lang="en-US" sz="3600" kern="0" cap="none" spc="0" normalizeH="0" baseline="0" noProof="0" dirty="0">
              <a:solidFill>
                <a:srgbClr val="FFFFCC"/>
              </a:solidFill>
              <a:latin typeface="Arial" panose="020B0604020202020204" pitchFamily="34" charset="0"/>
              <a:ea typeface="+mn-ea"/>
              <a:cs typeface="Arial" panose="020B0604020202020204" pitchFamily="34" charset="0"/>
            </a:endParaRPr>
          </a:p>
        </p:txBody>
      </p:sp>
      <p:sp>
        <p:nvSpPr>
          <p:cNvPr id="8" name="Content Placeholder 2"/>
          <p:cNvSpPr txBox="1"/>
          <p:nvPr/>
        </p:nvSpPr>
        <p:spPr>
          <a:xfrm>
            <a:off x="214313" y="1054100"/>
            <a:ext cx="8643938" cy="4911725"/>
          </a:xfrm>
          <a:prstGeom prst="rect">
            <a:avLst/>
          </a:prstGeom>
        </p:spPr>
        <p:txBody>
          <a:bodyPr/>
          <a:lstStyle/>
          <a:p>
            <a:pPr marL="457200" marR="0" indent="-457200" algn="just" defTabSz="914400">
              <a:buClrTx/>
              <a:buSzTx/>
              <a:buFontTx/>
              <a:buAutoNum type="arabicPeriod" startAt="3"/>
              <a:defRPr/>
            </a:pPr>
            <a:r>
              <a:rPr kumimoji="0" lang="en-US" sz="2400" b="1" kern="1200" cap="none" spc="0" normalizeH="0" baseline="0" noProof="0" dirty="0" err="1">
                <a:latin typeface="Arial Narrow" panose="020B0606020202030204" pitchFamily="34" charset="0"/>
                <a:ea typeface="+mn-ea"/>
                <a:cs typeface="Arial" panose="020B0604020202020204" pitchFamily="34" charset="0"/>
              </a:rPr>
              <a:t>Keakuratan</a:t>
            </a:r>
            <a:r>
              <a:rPr kumimoji="0" lang="en-US" sz="2400" b="1" kern="1200" cap="none" spc="0" normalizeH="0" baseline="0" noProof="0" dirty="0">
                <a:latin typeface="Arial Narrow" panose="020B0606020202030204" pitchFamily="34" charset="0"/>
                <a:ea typeface="+mn-ea"/>
                <a:cs typeface="Arial" panose="020B0604020202020204" pitchFamily="34" charset="0"/>
              </a:rPr>
              <a:t> (</a:t>
            </a:r>
            <a:r>
              <a:rPr kumimoji="0" lang="en-US" sz="2400" b="1" i="1" kern="1200" cap="none" spc="0" normalizeH="0" baseline="0" noProof="0" dirty="0">
                <a:latin typeface="Arial Narrow" panose="020B0606020202030204" pitchFamily="34" charset="0"/>
                <a:ea typeface="+mn-ea"/>
                <a:cs typeface="Arial" panose="020B0604020202020204" pitchFamily="34" charset="0"/>
              </a:rPr>
              <a:t>Accuracy</a:t>
            </a:r>
            <a:r>
              <a:rPr kumimoji="0" lang="en-US" sz="2400" b="1" kern="1200" cap="none" spc="0" normalizeH="0" baseline="0" noProof="0" dirty="0">
                <a:latin typeface="Arial Narrow" panose="020B0606020202030204" pitchFamily="34" charset="0"/>
                <a:ea typeface="+mn-ea"/>
                <a:cs typeface="Arial" panose="020B0604020202020204" pitchFamily="34" charset="0"/>
              </a:rPr>
              <a:t>) </a:t>
            </a:r>
            <a:endParaRPr kumimoji="0" lang="en-US" sz="2400" b="1" kern="1200" cap="none" spc="0" normalizeH="0" baseline="0" noProof="0" dirty="0">
              <a:latin typeface="Arial Narrow" panose="020B0606020202030204" pitchFamily="34" charset="0"/>
              <a:ea typeface="+mn-ea"/>
              <a:cs typeface="Arial" panose="020B0604020202020204" pitchFamily="34" charset="0"/>
            </a:endParaRPr>
          </a:p>
          <a:p>
            <a:pPr marL="457200" marR="0" indent="-457200" algn="just" defTabSz="914400">
              <a:buClrTx/>
              <a:buSzTx/>
              <a:buFontTx/>
              <a:buNone/>
              <a:defRPr/>
            </a:pP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Agar data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sesuai</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dengan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aturan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batasan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tertentu</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dengan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cara</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memanfaatkan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pengkodean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atau</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pembentukan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relasi</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antar</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data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bersama</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dengan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penerapan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aturan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batasan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i="1" kern="1200" cap="none" spc="0" normalizeH="0" baseline="0" noProof="0" dirty="0">
                <a:solidFill>
                  <a:srgbClr val="CCECFF"/>
                </a:solidFill>
                <a:latin typeface="Arial Narrow" panose="020B0606020202030204" pitchFamily="34" charset="0"/>
                <a:ea typeface="+mn-ea"/>
                <a:cs typeface="Arial" panose="020B0604020202020204" pitchFamily="34" charset="0"/>
              </a:rPr>
              <a:t>constraint)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tipe</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data, domain data,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keunikan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data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dsb</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a:t>
            </a:r>
            <a:endPar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endParaRPr>
          </a:p>
          <a:p>
            <a:pPr marL="457200" marR="0" indent="-457200" algn="just" defTabSz="914400">
              <a:buClrTx/>
              <a:buSzTx/>
              <a:buFontTx/>
              <a:buNone/>
              <a:defRPr/>
            </a:pPr>
            <a:endPar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endParaRPr>
          </a:p>
          <a:p>
            <a:pPr marL="457200" marR="0" indent="-457200" algn="just" defTabSz="914400">
              <a:buClrTx/>
              <a:buSzTx/>
              <a:buFontTx/>
              <a:buAutoNum type="arabicPeriod" startAt="4"/>
              <a:defRPr/>
            </a:pPr>
            <a:r>
              <a:rPr kumimoji="0" lang="en-US" sz="2400" b="1" kern="1200" cap="none" spc="0" normalizeH="0" baseline="0" noProof="0" dirty="0" err="1">
                <a:latin typeface="Arial Narrow" panose="020B0606020202030204" pitchFamily="34" charset="0"/>
                <a:ea typeface="+mn-ea"/>
                <a:cs typeface="Arial" panose="020B0604020202020204" pitchFamily="34" charset="0"/>
              </a:rPr>
              <a:t>Ketersediaan</a:t>
            </a:r>
            <a:r>
              <a:rPr kumimoji="0" lang="en-US" sz="2400" b="1" kern="1200" cap="none" spc="0" normalizeH="0" baseline="0" noProof="0" dirty="0">
                <a:latin typeface="Arial Narrow" panose="020B0606020202030204" pitchFamily="34" charset="0"/>
                <a:ea typeface="+mn-ea"/>
                <a:cs typeface="Arial" panose="020B0604020202020204" pitchFamily="34" charset="0"/>
              </a:rPr>
              <a:t> (</a:t>
            </a:r>
            <a:r>
              <a:rPr kumimoji="0" lang="en-US" sz="2400" b="1" i="1" kern="1200" cap="none" spc="0" normalizeH="0" baseline="0" noProof="0" dirty="0">
                <a:latin typeface="Arial Narrow" panose="020B0606020202030204" pitchFamily="34" charset="0"/>
                <a:ea typeface="+mn-ea"/>
                <a:cs typeface="Arial" panose="020B0604020202020204" pitchFamily="34" charset="0"/>
              </a:rPr>
              <a:t>Availability</a:t>
            </a:r>
            <a:r>
              <a:rPr kumimoji="0" lang="en-US" sz="2400" b="1" kern="1200" cap="none" spc="0" normalizeH="0" baseline="0" noProof="0" dirty="0">
                <a:latin typeface="Arial Narrow" panose="020B0606020202030204" pitchFamily="34" charset="0"/>
                <a:ea typeface="+mn-ea"/>
                <a:cs typeface="Arial" panose="020B0604020202020204" pitchFamily="34" charset="0"/>
              </a:rPr>
              <a:t>)</a:t>
            </a:r>
            <a:endParaRPr kumimoji="0" lang="en-US" sz="2400" b="1" kern="1200" cap="none" spc="0" normalizeH="0" baseline="0" noProof="0" dirty="0">
              <a:latin typeface="Arial Narrow" panose="020B0606020202030204" pitchFamily="34" charset="0"/>
              <a:ea typeface="+mn-ea"/>
              <a:cs typeface="Arial" panose="020B0604020202020204" pitchFamily="34" charset="0"/>
            </a:endParaRPr>
          </a:p>
          <a:p>
            <a:pPr marL="449580" marR="0" algn="just" defTabSz="914400">
              <a:buClrTx/>
              <a:buSzTx/>
              <a:buFontTx/>
              <a:buNone/>
              <a:defRPr/>
            </a:pP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Agar data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bisa</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diakses</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oleh</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setiap</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pengguna</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yang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membutuhkan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dengan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penerapan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teknologi</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jaringan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serta</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melakukan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pemindahan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penghapusan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data yang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sudah</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tidak</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digunakan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kadaluwarsa</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untuk</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menghemat</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ruang</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penyimpanan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a:t>
            </a:r>
            <a:endParaRPr kumimoji="0" lang="en-US" sz="2400" kern="0" cap="none" spc="0" normalizeH="0" baseline="0" noProof="0" dirty="0">
              <a:solidFill>
                <a:srgbClr val="CCECFF"/>
              </a:solidFill>
              <a:latin typeface="Arial Narrow" panose="020B0606020202030204" pitchFamily="34" charset="0"/>
              <a:ea typeface="+mn-ea"/>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3562350"/>
            <a:ext cx="5786438" cy="428625"/>
          </a:xfrm>
          <a:prstGeom prst="rect">
            <a:avLst/>
          </a:prstGeom>
          <a:solidFill>
            <a:srgbClr val="CC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 name="Rectangle 2"/>
          <p:cNvSpPr/>
          <p:nvPr/>
        </p:nvSpPr>
        <p:spPr>
          <a:xfrm>
            <a:off x="0" y="1027113"/>
            <a:ext cx="5786438" cy="428625"/>
          </a:xfrm>
          <a:prstGeom prst="rect">
            <a:avLst/>
          </a:prstGeom>
          <a:solidFill>
            <a:srgbClr val="CC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 name="Title 1"/>
          <p:cNvSpPr txBox="1"/>
          <p:nvPr/>
        </p:nvSpPr>
        <p:spPr>
          <a:xfrm>
            <a:off x="457200" y="214313"/>
            <a:ext cx="8229600" cy="714375"/>
          </a:xfrm>
          <a:prstGeom prst="rect">
            <a:avLst/>
          </a:prstGeom>
        </p:spPr>
        <p:txBody>
          <a:bodyPr anchor="ctr"/>
          <a:lstStyle/>
          <a:p>
            <a:pPr marR="0" algn="ctr" defTabSz="914400" eaLnBrk="0" hangingPunct="0">
              <a:buClrTx/>
              <a:buSzTx/>
              <a:buFontTx/>
              <a:buNone/>
              <a:defRPr/>
            </a:pPr>
            <a:r>
              <a:rPr kumimoji="0" lang="en-US" sz="3600" kern="0" cap="none" spc="0" normalizeH="0" baseline="0" noProof="0" dirty="0">
                <a:solidFill>
                  <a:srgbClr val="FFFFCC"/>
                </a:solidFill>
                <a:latin typeface="Arial" panose="020B0604020202020204" pitchFamily="34" charset="0"/>
                <a:ea typeface="+mn-ea"/>
                <a:cs typeface="Arial" panose="020B0604020202020204" pitchFamily="34" charset="0"/>
              </a:rPr>
              <a:t>OBJEKTIF/TUJUAN BASIS DATA (3)</a:t>
            </a:r>
            <a:endParaRPr kumimoji="0" lang="en-US" sz="3600" kern="0" cap="none" spc="0" normalizeH="0" baseline="0" noProof="0" dirty="0">
              <a:solidFill>
                <a:srgbClr val="FFFFCC"/>
              </a:solidFill>
              <a:latin typeface="Arial" panose="020B0604020202020204" pitchFamily="34" charset="0"/>
              <a:ea typeface="+mn-ea"/>
              <a:cs typeface="Arial" panose="020B0604020202020204" pitchFamily="34" charset="0"/>
            </a:endParaRPr>
          </a:p>
        </p:txBody>
      </p:sp>
      <p:sp>
        <p:nvSpPr>
          <p:cNvPr id="5" name="Content Placeholder 2"/>
          <p:cNvSpPr txBox="1"/>
          <p:nvPr/>
        </p:nvSpPr>
        <p:spPr>
          <a:xfrm>
            <a:off x="214313" y="982663"/>
            <a:ext cx="8643938" cy="4911725"/>
          </a:xfrm>
          <a:prstGeom prst="rect">
            <a:avLst/>
          </a:prstGeom>
        </p:spPr>
        <p:txBody>
          <a:bodyPr/>
          <a:lstStyle/>
          <a:p>
            <a:pPr marL="457200" marR="0" indent="-457200" algn="just" defTabSz="914400">
              <a:buClrTx/>
              <a:buSzTx/>
              <a:buFontTx/>
              <a:buAutoNum type="arabicPeriod" startAt="5"/>
              <a:defRPr/>
            </a:pPr>
            <a:r>
              <a:rPr kumimoji="0" lang="en-US" sz="2400" b="1" kern="1200" cap="none" spc="0" normalizeH="0" baseline="0" noProof="0" dirty="0" err="1">
                <a:latin typeface="Arial Narrow" panose="020B0606020202030204" pitchFamily="34" charset="0"/>
                <a:ea typeface="+mn-ea"/>
                <a:cs typeface="Arial" panose="020B0604020202020204" pitchFamily="34" charset="0"/>
              </a:rPr>
              <a:t>Kelengkapan</a:t>
            </a:r>
            <a:r>
              <a:rPr kumimoji="0" lang="en-US" sz="2400" b="1" kern="1200" cap="none" spc="0" normalizeH="0" baseline="0" noProof="0" dirty="0">
                <a:latin typeface="Arial Narrow" panose="020B0606020202030204" pitchFamily="34" charset="0"/>
                <a:ea typeface="+mn-ea"/>
                <a:cs typeface="Arial" panose="020B0604020202020204" pitchFamily="34" charset="0"/>
              </a:rPr>
              <a:t> (</a:t>
            </a:r>
            <a:r>
              <a:rPr kumimoji="0" lang="en-US" sz="2400" b="1" i="1" kern="1200" cap="none" spc="0" normalizeH="0" baseline="0" noProof="0" dirty="0">
                <a:latin typeface="Arial Narrow" panose="020B0606020202030204" pitchFamily="34" charset="0"/>
                <a:ea typeface="+mn-ea"/>
                <a:cs typeface="Arial" panose="020B0604020202020204" pitchFamily="34" charset="0"/>
              </a:rPr>
              <a:t>Completeness</a:t>
            </a:r>
            <a:r>
              <a:rPr kumimoji="0" lang="en-US" sz="2400" b="1" kern="1200" cap="none" spc="0" normalizeH="0" baseline="0" noProof="0" dirty="0">
                <a:latin typeface="Arial Narrow" panose="020B0606020202030204" pitchFamily="34" charset="0"/>
                <a:ea typeface="+mn-ea"/>
                <a:cs typeface="Arial" panose="020B0604020202020204" pitchFamily="34" charset="0"/>
              </a:rPr>
              <a:t>) </a:t>
            </a:r>
            <a:endParaRPr kumimoji="0" lang="en-US" sz="2400" b="1" kern="1200" cap="none" spc="0" normalizeH="0" baseline="0" noProof="0" dirty="0">
              <a:latin typeface="Arial Narrow" panose="020B0606020202030204" pitchFamily="34" charset="0"/>
              <a:ea typeface="+mn-ea"/>
              <a:cs typeface="Arial" panose="020B0604020202020204" pitchFamily="34" charset="0"/>
            </a:endParaRPr>
          </a:p>
          <a:p>
            <a:pPr marL="457200" marR="0" indent="-457200" algn="just" defTabSz="914400">
              <a:buClrTx/>
              <a:buSzTx/>
              <a:buFontTx/>
              <a:buNone/>
              <a:defRPr/>
            </a:pP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Agar data yang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dikelola</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senantiasa</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lengkap</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baik</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relatif</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terhadap</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kebutuhan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pemakai</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maupun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terhadap</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waktu</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dengan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melakukan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penambahan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baris-baris</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data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ataupun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melakukan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perubahan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struktur</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pada</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basis data;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yakni</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dengan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menambahkan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field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pada</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tabel</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atau</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menambah</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tabel</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baru</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a:t>
            </a:r>
            <a:endPar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endParaRPr>
          </a:p>
          <a:p>
            <a:pPr marL="457200" marR="0" indent="-457200" algn="just" defTabSz="914400">
              <a:buClrTx/>
              <a:buSzTx/>
              <a:buFontTx/>
              <a:buNone/>
              <a:defRPr/>
            </a:pPr>
            <a:endPar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endParaRPr>
          </a:p>
          <a:p>
            <a:pPr marL="457200" marR="0" indent="-457200" algn="just" defTabSz="914400">
              <a:buClrTx/>
              <a:buSzTx/>
              <a:buFontTx/>
              <a:buAutoNum type="arabicPeriod" startAt="6"/>
              <a:defRPr/>
            </a:pPr>
            <a:r>
              <a:rPr kumimoji="0" lang="en-US" sz="2400" b="1" kern="1200" cap="none" spc="0" normalizeH="0" baseline="0" noProof="0" dirty="0" err="1">
                <a:latin typeface="Arial Narrow" panose="020B0606020202030204" pitchFamily="34" charset="0"/>
                <a:ea typeface="+mn-ea"/>
                <a:cs typeface="Arial" panose="020B0604020202020204" pitchFamily="34" charset="0"/>
              </a:rPr>
              <a:t>Keamanan</a:t>
            </a:r>
            <a:r>
              <a:rPr kumimoji="0" lang="en-US" sz="2400" b="1" kern="1200" cap="none" spc="0" normalizeH="0" baseline="0" noProof="0" dirty="0">
                <a:latin typeface="Arial Narrow" panose="020B0606020202030204" pitchFamily="34" charset="0"/>
                <a:ea typeface="+mn-ea"/>
                <a:cs typeface="Arial" panose="020B0604020202020204" pitchFamily="34" charset="0"/>
              </a:rPr>
              <a:t> (</a:t>
            </a:r>
            <a:r>
              <a:rPr kumimoji="0" lang="en-US" sz="2400" b="1" i="1" kern="1200" cap="none" spc="0" normalizeH="0" baseline="0" noProof="0" dirty="0">
                <a:latin typeface="Arial Narrow" panose="020B0606020202030204" pitchFamily="34" charset="0"/>
                <a:ea typeface="+mn-ea"/>
                <a:cs typeface="Arial" panose="020B0604020202020204" pitchFamily="34" charset="0"/>
              </a:rPr>
              <a:t>Security</a:t>
            </a:r>
            <a:r>
              <a:rPr kumimoji="0" lang="en-US" sz="2400" b="1" kern="1200" cap="none" spc="0" normalizeH="0" baseline="0" noProof="0" dirty="0">
                <a:latin typeface="Arial Narrow" panose="020B0606020202030204" pitchFamily="34" charset="0"/>
                <a:ea typeface="+mn-ea"/>
                <a:cs typeface="Arial" panose="020B0604020202020204" pitchFamily="34" charset="0"/>
              </a:rPr>
              <a:t>) </a:t>
            </a:r>
            <a:endParaRPr kumimoji="0" lang="en-US" sz="2400" b="1" kern="1200" cap="none" spc="0" normalizeH="0" baseline="0" noProof="0" dirty="0">
              <a:latin typeface="Arial Narrow" panose="020B0606020202030204" pitchFamily="34" charset="0"/>
              <a:ea typeface="+mn-ea"/>
              <a:cs typeface="Arial" panose="020B0604020202020204" pitchFamily="34" charset="0"/>
            </a:endParaRPr>
          </a:p>
          <a:p>
            <a:pPr marL="457200" marR="0" indent="-457200" algn="just" defTabSz="914400">
              <a:buClrTx/>
              <a:buSzTx/>
              <a:buFontTx/>
              <a:buNone/>
              <a:defRPr/>
            </a:pP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Agar data yang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bersifat</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rahasia</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atau</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proses</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yang vital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tidak</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jatuh</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ke</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orang</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pengguna</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yang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tidak</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berhak</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yakni</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dengan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penggunaan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i="1" kern="1200" cap="none" spc="0" normalizeH="0" baseline="0" noProof="0" dirty="0">
                <a:solidFill>
                  <a:srgbClr val="CCECFF"/>
                </a:solidFill>
                <a:latin typeface="Arial Narrow" panose="020B0606020202030204" pitchFamily="34" charset="0"/>
                <a:ea typeface="+mn-ea"/>
                <a:cs typeface="Arial" panose="020B0604020202020204" pitchFamily="34" charset="0"/>
              </a:rPr>
              <a:t>account</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(username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password)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serta</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menerapkan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pembedaan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hak</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akses</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endPar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endParaRPr>
          </a:p>
          <a:p>
            <a:pPr marL="457200" marR="0" indent="-457200" algn="just" defTabSz="914400">
              <a:buClrTx/>
              <a:buSzTx/>
              <a:buFontTx/>
              <a:buNone/>
              <a:defRPr/>
            </a:pP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setiap</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pengguna</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terhadap</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data yang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bisa</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dibaca</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atau</a:t>
            </a:r>
            <a:endPar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endParaRPr>
          </a:p>
          <a:p>
            <a:pPr marL="457200" marR="0" indent="-457200" algn="just" defTabSz="914400">
              <a:buClrTx/>
              <a:buSzTx/>
              <a:buFontTx/>
              <a:buNone/>
              <a:defRPr/>
            </a:pP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proses</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yang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bisa</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dilakukan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a:t>
            </a:r>
            <a:endParaRPr kumimoji="0" lang="en-US" sz="2400" kern="0" cap="none" spc="0" normalizeH="0" baseline="0" noProof="0" dirty="0">
              <a:solidFill>
                <a:srgbClr val="CCECFF"/>
              </a:solidFill>
              <a:latin typeface="Arial Narrow" panose="020B0606020202030204" pitchFamily="34" charset="0"/>
              <a:ea typeface="+mn-ea"/>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Rectangle 2"/>
          <p:cNvSpPr/>
          <p:nvPr/>
        </p:nvSpPr>
        <p:spPr>
          <a:xfrm>
            <a:off x="0" y="1303338"/>
            <a:ext cx="5786438" cy="428625"/>
          </a:xfrm>
          <a:prstGeom prst="rect">
            <a:avLst/>
          </a:prstGeom>
          <a:solidFill>
            <a:srgbClr val="CC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 name="Title 1"/>
          <p:cNvSpPr txBox="1"/>
          <p:nvPr/>
        </p:nvSpPr>
        <p:spPr>
          <a:xfrm>
            <a:off x="500063" y="285750"/>
            <a:ext cx="8229600" cy="714375"/>
          </a:xfrm>
          <a:prstGeom prst="rect">
            <a:avLst/>
          </a:prstGeom>
        </p:spPr>
        <p:txBody>
          <a:bodyPr anchor="ctr"/>
          <a:lstStyle/>
          <a:p>
            <a:pPr marR="0" algn="ctr" defTabSz="914400" eaLnBrk="0" hangingPunct="0">
              <a:buClrTx/>
              <a:buSzTx/>
              <a:buFontTx/>
              <a:buNone/>
              <a:defRPr/>
            </a:pPr>
            <a:r>
              <a:rPr kumimoji="0" lang="en-US" sz="3600" kern="0" cap="none" spc="0" normalizeH="0" baseline="0" noProof="0" dirty="0">
                <a:solidFill>
                  <a:srgbClr val="FFFFCC"/>
                </a:solidFill>
                <a:latin typeface="Arial" panose="020B0604020202020204" pitchFamily="34" charset="0"/>
                <a:ea typeface="+mn-ea"/>
                <a:cs typeface="Arial" panose="020B0604020202020204" pitchFamily="34" charset="0"/>
              </a:rPr>
              <a:t>OBJEKTIF/TUJUAN BASIS DATA (4)</a:t>
            </a:r>
            <a:endParaRPr kumimoji="0" lang="en-US" sz="3600" kern="0" cap="none" spc="0" normalizeH="0" baseline="0" noProof="0" dirty="0">
              <a:solidFill>
                <a:srgbClr val="FFFFCC"/>
              </a:solidFill>
              <a:latin typeface="Arial" panose="020B0604020202020204" pitchFamily="34" charset="0"/>
              <a:ea typeface="+mn-ea"/>
              <a:cs typeface="Arial" panose="020B0604020202020204" pitchFamily="34" charset="0"/>
            </a:endParaRPr>
          </a:p>
        </p:txBody>
      </p:sp>
      <p:sp>
        <p:nvSpPr>
          <p:cNvPr id="18436" name="Content Placeholder 2"/>
          <p:cNvSpPr txBox="1"/>
          <p:nvPr/>
        </p:nvSpPr>
        <p:spPr>
          <a:xfrm>
            <a:off x="214313" y="1285875"/>
            <a:ext cx="8643937" cy="4608513"/>
          </a:xfrm>
          <a:prstGeom prst="rect">
            <a:avLst/>
          </a:prstGeom>
          <a:noFill/>
          <a:ln w="9525">
            <a:noFill/>
          </a:ln>
        </p:spPr>
        <p:txBody>
          <a:bodyPr/>
          <a:p>
            <a:pPr marL="457200" indent="-457200" algn="just">
              <a:buAutoNum type="arabicPeriod" startAt="7"/>
            </a:pPr>
            <a:r>
              <a:rPr lang="en-US" altLang="x-none" sz="2400" b="1" dirty="0">
                <a:latin typeface="Arial Narrow" panose="020B0606020202030204" pitchFamily="34" charset="0"/>
              </a:rPr>
              <a:t>Kebersamaan (</a:t>
            </a:r>
            <a:r>
              <a:rPr lang="en-US" altLang="x-none" sz="2400" b="1" i="1" dirty="0">
                <a:latin typeface="Arial Narrow" panose="020B0606020202030204" pitchFamily="34" charset="0"/>
              </a:rPr>
              <a:t>Sharability</a:t>
            </a:r>
            <a:r>
              <a:rPr lang="en-US" altLang="x-none" sz="2400" b="1" dirty="0">
                <a:latin typeface="Arial Narrow" panose="020B0606020202030204" pitchFamily="34" charset="0"/>
              </a:rPr>
              <a:t>) </a:t>
            </a:r>
            <a:endParaRPr lang="en-US" altLang="x-none" sz="2400" b="1" dirty="0">
              <a:latin typeface="Arial Narrow" panose="020B0606020202030204" pitchFamily="34" charset="0"/>
            </a:endParaRPr>
          </a:p>
          <a:p>
            <a:pPr marL="457200" indent="-457200" algn="just">
              <a:buNone/>
            </a:pPr>
            <a:r>
              <a:rPr lang="en-US" altLang="x-none" sz="2400" dirty="0">
                <a:latin typeface="Arial Narrow" panose="020B0606020202030204" pitchFamily="34" charset="0"/>
              </a:rPr>
              <a:t>	</a:t>
            </a:r>
            <a:r>
              <a:rPr lang="en-US" altLang="x-none" sz="2400" dirty="0">
                <a:solidFill>
                  <a:srgbClr val="CCECFF"/>
                </a:solidFill>
                <a:latin typeface="Arial Narrow" panose="020B0606020202030204" pitchFamily="34" charset="0"/>
              </a:rPr>
              <a:t>Agar data yang dikelola oleh sistem mendukung lingkungan </a:t>
            </a:r>
            <a:r>
              <a:rPr lang="en-US" altLang="x-none" sz="2400" i="1" dirty="0">
                <a:solidFill>
                  <a:srgbClr val="CCECFF"/>
                </a:solidFill>
                <a:latin typeface="Arial Narrow" panose="020B0606020202030204" pitchFamily="34" charset="0"/>
              </a:rPr>
              <a:t>multiuser</a:t>
            </a:r>
            <a:r>
              <a:rPr lang="en-US" altLang="x-none" sz="2400" dirty="0">
                <a:solidFill>
                  <a:srgbClr val="CCECFF"/>
                </a:solidFill>
                <a:latin typeface="Arial Narrow" panose="020B0606020202030204" pitchFamily="34" charset="0"/>
              </a:rPr>
              <a:t> (banyak pemakai), dengan menjaga/menghindari munculnya problem baru seperti inkonsistensi data (karena terjadi perubahan data yang dilakukan oleh beberapa user dalam waktu yang bersamaan) atau kondisi deadlock (karena ada banyak pemakai yang saling menunggu untuk menggunakan data).</a:t>
            </a:r>
            <a:endParaRPr lang="en-US" altLang="x-none" sz="2400" dirty="0">
              <a:solidFill>
                <a:srgbClr val="CCECFF"/>
              </a:solidFill>
              <a:latin typeface="Arial Narrow" panose="020B060602020203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Title 1"/>
          <p:cNvSpPr>
            <a:spLocks noGrp="1"/>
          </p:cNvSpPr>
          <p:nvPr>
            <p:ph type="title"/>
          </p:nvPr>
        </p:nvSpPr>
        <p:spPr>
          <a:xfrm>
            <a:off x="457200" y="187325"/>
            <a:ext cx="8229600" cy="868363"/>
          </a:xfrm>
          <a:ln/>
        </p:spPr>
        <p:txBody>
          <a:bodyPr vert="horz" wrap="square" lIns="91440" tIns="45720" rIns="91440" bIns="45720" anchor="ctr" anchorCtr="0"/>
          <a:p>
            <a:r>
              <a:rPr lang="en-US" altLang="x-none" sz="4000" dirty="0">
                <a:solidFill>
                  <a:srgbClr val="FFFFCC"/>
                </a:solidFill>
              </a:rPr>
              <a:t>HIRARKI DATA</a:t>
            </a:r>
            <a:endParaRPr lang="en-US" altLang="x-none" sz="4000" dirty="0">
              <a:solidFill>
                <a:srgbClr val="FFFFCC"/>
              </a:solidFill>
            </a:endParaRPr>
          </a:p>
        </p:txBody>
      </p:sp>
      <p:sp>
        <p:nvSpPr>
          <p:cNvPr id="3" name="Content Placeholder 2"/>
          <p:cNvSpPr>
            <a:spLocks noGrp="1"/>
          </p:cNvSpPr>
          <p:nvPr>
            <p:ph idx="1"/>
          </p:nvPr>
        </p:nvSpPr>
        <p:spPr>
          <a:xfrm>
            <a:off x="214313" y="1054100"/>
            <a:ext cx="8643938" cy="4911725"/>
          </a:xfrm>
        </p:spPr>
        <p:txBody>
          <a:bodyPr vert="horz" wrap="square" lIns="91440" tIns="45720" rIns="91440" bIns="45720" numCol="1" anchor="t" anchorCtr="0" compatLnSpc="1"/>
          <a:lstStyle/>
          <a:p>
            <a:pPr marL="0" marR="0" lvl="0" indent="0" algn="just" defTabSz="914400" rtl="0" eaLnBrk="0" fontAlgn="base" latinLnBrk="0" hangingPunct="0">
              <a:lnSpc>
                <a:spcPct val="100000"/>
              </a:lnSpc>
              <a:spcBef>
                <a:spcPct val="20000"/>
              </a:spcBef>
              <a:spcAft>
                <a:spcPct val="0"/>
              </a:spcAft>
              <a:buClrTx/>
              <a:buSzTx/>
              <a:buFontTx/>
              <a:buNone/>
              <a:defRPr/>
            </a:pP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Data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diorganisasikan</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kedalam</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bentuk</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elemen</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data (</a:t>
            </a:r>
            <a:r>
              <a:rPr kumimoji="0" lang="en-US" sz="2400" b="0" i="1"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field),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rekaman</a:t>
            </a:r>
            <a:r>
              <a:rPr kumimoji="0" lang="en-US" sz="2400" b="0" i="1"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(record),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dan</a:t>
            </a:r>
            <a:r>
              <a:rPr kumimoji="0" lang="en-US" sz="2400" b="0" i="1"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berkas</a:t>
            </a:r>
            <a:r>
              <a:rPr kumimoji="0" lang="en-US" sz="2400" b="0" i="1"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(file).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Definisi</a:t>
            </a:r>
            <a:r>
              <a:rPr kumimoji="0" lang="en-US" sz="2400" b="0" i="1"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dari</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ketiganya</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adalah</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sebagai</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berikut</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a:t>
            </a:r>
            <a:endPar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endParaRPr>
          </a:p>
          <a:p>
            <a:pPr marL="342900" marR="0" lvl="0" indent="-342900" algn="just" defTabSz="914400" rtl="0" eaLnBrk="0" fontAlgn="base" latinLnBrk="0" hangingPunct="0">
              <a:lnSpc>
                <a:spcPct val="100000"/>
              </a:lnSpc>
              <a:spcBef>
                <a:spcPct val="20000"/>
              </a:spcBef>
              <a:spcAft>
                <a:spcPct val="0"/>
              </a:spcAft>
              <a:buClrTx/>
              <a:buSzTx/>
              <a:buFontTx/>
              <a:buChar char="•"/>
              <a:defRPr/>
            </a:pPr>
            <a:r>
              <a:rPr kumimoji="0" lang="en-US" sz="2400" b="1"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Elemen</a:t>
            </a:r>
            <a:r>
              <a:rPr kumimoji="0" lang="en-US" sz="2400" b="1"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Data</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satuan</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data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terkecil</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yang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tidak</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dapat</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dipecah</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lagi</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menjadi</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unit lain yang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bermakna</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Istilah</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lainnya</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adalah</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a:t>
            </a:r>
            <a:r>
              <a:rPr kumimoji="0" lang="en-US" sz="2400" b="0" i="1"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field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atau</a:t>
            </a:r>
            <a:r>
              <a:rPr kumimoji="0" lang="en-US" sz="2400" b="0" i="1"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medan</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kolom</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item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dan</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atribut</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a:t>
            </a:r>
            <a:endPar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endParaRPr>
          </a:p>
          <a:p>
            <a:pPr marL="342900" marR="0" lvl="0" indent="-342900" algn="just" defTabSz="914400" rtl="0" eaLnBrk="0" fontAlgn="base" latinLnBrk="0" hangingPunct="0">
              <a:lnSpc>
                <a:spcPct val="100000"/>
              </a:lnSpc>
              <a:spcBef>
                <a:spcPct val="20000"/>
              </a:spcBef>
              <a:spcAft>
                <a:spcPct val="0"/>
              </a:spcAft>
              <a:buClrTx/>
              <a:buSzTx/>
              <a:buFontTx/>
              <a:buChar char="•"/>
              <a:defRPr/>
            </a:pPr>
            <a:r>
              <a:rPr kumimoji="0" lang="en-US" sz="2400" b="1"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Rekaman</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gabungan</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sejumlah</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elemen</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data yang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saling</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terkait</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Dalam</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sistem</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basis data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relasional</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rekaman</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biasa</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disebut</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dengan</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istilah</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tupel</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atau</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baris</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a:t>
            </a:r>
            <a:r>
              <a:rPr kumimoji="0" lang="en-US" sz="2400" b="0" i="1"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row</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a:t>
            </a:r>
            <a:endPar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endParaRPr>
          </a:p>
          <a:p>
            <a:pPr marL="342900" marR="0" lvl="0" indent="-342900" algn="just" defTabSz="914400" rtl="0" eaLnBrk="0" fontAlgn="base" latinLnBrk="0" hangingPunct="0">
              <a:lnSpc>
                <a:spcPct val="100000"/>
              </a:lnSpc>
              <a:spcBef>
                <a:spcPct val="20000"/>
              </a:spcBef>
              <a:spcAft>
                <a:spcPct val="0"/>
              </a:spcAft>
              <a:buClrTx/>
              <a:buSzTx/>
              <a:buFontTx/>
              <a:buChar char="•"/>
              <a:defRPr/>
            </a:pPr>
            <a:r>
              <a:rPr kumimoji="0" lang="en-US" sz="2400" b="1"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Berkas</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himpunan</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seluruh</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rekaman</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yang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bertipe</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sama</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membentuk</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sebuah</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berkas</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Dalam</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sistem</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basis data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relasional</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berkas</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mewakili</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komponen</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yang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disebut</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tabel</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atau</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 </a:t>
            </a:r>
            <a:r>
              <a:rPr kumimoji="0" lang="en-US" sz="2400" b="0" i="0" u="none" strike="noStrike" kern="0" cap="none" spc="0" normalizeH="0" baseline="0" noProof="0" dirty="0" err="1" smtClean="0">
                <a:ln>
                  <a:noFill/>
                </a:ln>
                <a:solidFill>
                  <a:srgbClr val="CCECFF"/>
                </a:solidFill>
                <a:effectLst/>
                <a:uLnTx/>
                <a:uFillTx/>
                <a:latin typeface="Arial Narrow" panose="020B0606020202030204" pitchFamily="34" charset="0"/>
                <a:ea typeface="+mn-ea"/>
                <a:cs typeface="+mn-cs"/>
              </a:rPr>
              <a:t>relasi</a:t>
            </a:r>
            <a:r>
              <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rPr>
              <a:t>.</a:t>
            </a:r>
            <a:endParaRPr kumimoji="0" lang="en-US" sz="2400" b="0" i="0" u="none" strike="noStrike" kern="0" cap="none" spc="0" normalizeH="0" baseline="0" noProof="0" dirty="0" smtClean="0">
              <a:ln>
                <a:noFill/>
              </a:ln>
              <a:solidFill>
                <a:srgbClr val="CCECFF"/>
              </a:solidFill>
              <a:effectLst/>
              <a:uLnTx/>
              <a:uFillTx/>
              <a:latin typeface="Arial Narrow" panose="020B0606020202030204" pitchFamily="34" charset="0"/>
              <a:ea typeface="+mn-ea"/>
              <a:cs typeface="+mn-cs"/>
            </a:endParaRPr>
          </a:p>
          <a:p>
            <a:pPr marL="342900" marR="0" lvl="0" indent="-342900" algn="just" defTabSz="914400" rtl="0" eaLnBrk="0" fontAlgn="base" latinLnBrk="0" hangingPunct="0">
              <a:lnSpc>
                <a:spcPct val="100000"/>
              </a:lnSpc>
              <a:spcBef>
                <a:spcPct val="20000"/>
              </a:spcBef>
              <a:spcAft>
                <a:spcPct val="0"/>
              </a:spcAft>
              <a:buClrTx/>
              <a:buSzTx/>
              <a:buFontTx/>
              <a:buChar char="•"/>
              <a:defRPr/>
            </a:pPr>
            <a:endParaRPr kumimoji="0" lang="en-US" sz="2400" b="0" i="0" u="none" strike="noStrike" kern="0" cap="none" spc="0" normalizeH="0" baseline="0" noProof="0" dirty="0">
              <a:ln>
                <a:noFill/>
              </a:ln>
              <a:solidFill>
                <a:srgbClr val="CCECFF"/>
              </a:solidFill>
              <a:effectLst/>
              <a:uLnTx/>
              <a:uFillTx/>
              <a:latin typeface="Arial Narrow" panose="020B0606020202030204" pitchFamily="34" charset="0"/>
              <a:ea typeface="+mn-ea"/>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1"/>
          <p:cNvSpPr txBox="1"/>
          <p:nvPr/>
        </p:nvSpPr>
        <p:spPr>
          <a:xfrm>
            <a:off x="457200" y="187325"/>
            <a:ext cx="8229600" cy="868363"/>
          </a:xfrm>
          <a:prstGeom prst="rect">
            <a:avLst/>
          </a:prstGeom>
        </p:spPr>
        <p:txBody>
          <a:bodyPr/>
          <a:lstStyle/>
          <a:p>
            <a:pPr marR="0" algn="ctr" defTabSz="914400" eaLnBrk="0" hangingPunct="0">
              <a:buClrTx/>
              <a:buSzTx/>
              <a:buFontTx/>
              <a:buNone/>
              <a:defRPr/>
            </a:pPr>
            <a:r>
              <a:rPr kumimoji="0" lang="en-US" sz="4000" kern="0" cap="none" spc="0" normalizeH="0" baseline="0" noProof="0" dirty="0">
                <a:solidFill>
                  <a:srgbClr val="FFFFCC"/>
                </a:solidFill>
                <a:latin typeface="+mj-lt"/>
                <a:ea typeface="+mj-ea"/>
                <a:cs typeface="+mj-cs"/>
              </a:rPr>
              <a:t>APLIKASI BASIS DATA</a:t>
            </a:r>
            <a:endParaRPr kumimoji="0" lang="en-US" sz="4000" kern="0" cap="none" spc="0" normalizeH="0" baseline="0" noProof="0" dirty="0">
              <a:solidFill>
                <a:srgbClr val="FFFFCC"/>
              </a:solidFill>
              <a:latin typeface="+mj-lt"/>
              <a:ea typeface="+mj-ea"/>
              <a:cs typeface="+mj-cs"/>
            </a:endParaRPr>
          </a:p>
        </p:txBody>
      </p:sp>
      <p:sp>
        <p:nvSpPr>
          <p:cNvPr id="4" name="Content Placeholder 2"/>
          <p:cNvSpPr txBox="1"/>
          <p:nvPr/>
        </p:nvSpPr>
        <p:spPr>
          <a:xfrm>
            <a:off x="214313" y="1054100"/>
            <a:ext cx="8643938" cy="4303713"/>
          </a:xfrm>
          <a:prstGeom prst="rect">
            <a:avLst/>
          </a:prstGeom>
        </p:spPr>
        <p:txBody>
          <a:bodyPr/>
          <a:lstStyle/>
          <a:p>
            <a:pPr marL="449580" marR="0" indent="-449580" defTabSz="914400">
              <a:buClrTx/>
              <a:buSzTx/>
              <a:buFont typeface="Wingdings" panose="05000000000000000000" pitchFamily="2" charset="2"/>
              <a:buChar char="Ø"/>
              <a:defRPr/>
            </a:pPr>
            <a:r>
              <a:rPr kumimoji="0" lang="en-US" sz="2400" b="1" kern="1200" cap="none" spc="0" normalizeH="0" baseline="0" noProof="0" dirty="0" err="1">
                <a:solidFill>
                  <a:srgbClr val="CCECFF"/>
                </a:solidFill>
                <a:latin typeface="Arial Narrow" panose="020B0606020202030204" pitchFamily="34" charset="0"/>
                <a:ea typeface="+mn-ea"/>
                <a:cs typeface="Arial" panose="020B0604020202020204" pitchFamily="34" charset="0"/>
              </a:rPr>
              <a:t>Tradisional</a:t>
            </a:r>
            <a:r>
              <a:rPr kumimoji="0" lang="en-US" sz="2400" b="1" kern="1200" cap="none" spc="0" normalizeH="0" baseline="0" noProof="0" dirty="0">
                <a:solidFill>
                  <a:srgbClr val="CCECFF"/>
                </a:solidFill>
                <a:latin typeface="Arial Narrow" panose="020B0606020202030204" pitchFamily="34" charset="0"/>
                <a:ea typeface="+mn-ea"/>
                <a:cs typeface="Arial" panose="020B0604020202020204" pitchFamily="34" charset="0"/>
              </a:rPr>
              <a:t>:</a:t>
            </a:r>
            <a:endParaRPr kumimoji="0" lang="en-US" sz="2400" b="1" kern="1200" cap="none" spc="0" normalizeH="0" baseline="0" noProof="0" dirty="0">
              <a:solidFill>
                <a:srgbClr val="CCECFF"/>
              </a:solidFill>
              <a:latin typeface="Arial Narrow" panose="020B0606020202030204" pitchFamily="34" charset="0"/>
              <a:ea typeface="+mn-ea"/>
              <a:cs typeface="Arial" panose="020B0604020202020204" pitchFamily="34" charset="0"/>
            </a:endParaRPr>
          </a:p>
          <a:p>
            <a:pPr marL="900430" marR="0" indent="-449580" defTabSz="914400">
              <a:buClrTx/>
              <a:buSzTx/>
              <a:buFont typeface="Courier New" panose="02070309020205020404" pitchFamily="49" charset="0"/>
              <a:buChar char="o"/>
              <a:defRPr/>
            </a:pP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Bank</a:t>
            </a:r>
            <a:endPar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endParaRPr>
          </a:p>
          <a:p>
            <a:pPr marL="900430" marR="0" indent="-449580" defTabSz="914400">
              <a:buClrTx/>
              <a:buSzTx/>
              <a:buFont typeface="Courier New" panose="02070309020205020404" pitchFamily="49" charset="0"/>
              <a:buChar char="o"/>
              <a:defRPr/>
            </a:pP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Rumah</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sakit</a:t>
            </a:r>
            <a:endPar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endParaRPr>
          </a:p>
          <a:p>
            <a:pPr marL="900430" marR="0" indent="-449580" defTabSz="914400">
              <a:buClrTx/>
              <a:buSzTx/>
              <a:buFont typeface="Courier New" panose="02070309020205020404" pitchFamily="49" charset="0"/>
              <a:buChar char="o"/>
              <a:defRPr/>
            </a:pP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dll</a:t>
            </a:r>
            <a:endPar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endParaRPr>
          </a:p>
          <a:p>
            <a:pPr marL="449580" marR="0" indent="-449580" defTabSz="914400">
              <a:buClrTx/>
              <a:buSzTx/>
              <a:buFont typeface="Wingdings" panose="05000000000000000000" pitchFamily="2" charset="2"/>
              <a:buChar char="Ø"/>
              <a:defRPr/>
            </a:pP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b="1" kern="1200" cap="none" spc="0" normalizeH="0" baseline="0" noProof="0" dirty="0" err="1">
                <a:solidFill>
                  <a:srgbClr val="CCECFF"/>
                </a:solidFill>
                <a:latin typeface="Arial Narrow" panose="020B0606020202030204" pitchFamily="34" charset="0"/>
                <a:ea typeface="+mn-ea"/>
                <a:cs typeface="Arial" panose="020B0604020202020204" pitchFamily="34" charset="0"/>
              </a:rPr>
              <a:t>Ekstension</a:t>
            </a:r>
            <a:r>
              <a:rPr kumimoji="0" lang="en-US" sz="2400" b="1" kern="1200" cap="none" spc="0" normalizeH="0" baseline="0" noProof="0" dirty="0">
                <a:solidFill>
                  <a:srgbClr val="CCECFF"/>
                </a:solidFill>
                <a:latin typeface="Arial Narrow" panose="020B0606020202030204" pitchFamily="34" charset="0"/>
                <a:ea typeface="+mn-ea"/>
                <a:cs typeface="Arial" panose="020B0604020202020204" pitchFamily="34" charset="0"/>
              </a:rPr>
              <a:t>:</a:t>
            </a:r>
            <a:endParaRPr kumimoji="0" lang="en-US" sz="2400" b="1" kern="1200" cap="none" spc="0" normalizeH="0" baseline="0" noProof="0" dirty="0">
              <a:solidFill>
                <a:srgbClr val="CCECFF"/>
              </a:solidFill>
              <a:latin typeface="Arial Narrow" panose="020B0606020202030204" pitchFamily="34" charset="0"/>
              <a:ea typeface="+mn-ea"/>
              <a:cs typeface="Arial" panose="020B0604020202020204" pitchFamily="34" charset="0"/>
            </a:endParaRPr>
          </a:p>
          <a:p>
            <a:pPr marL="900430" marR="0" indent="-450850" defTabSz="914400">
              <a:buClrTx/>
              <a:buSzTx/>
              <a:buFont typeface="Courier New" panose="02070309020205020404" pitchFamily="49" charset="0"/>
              <a:buChar char="o"/>
              <a:defRPr/>
            </a:pPr>
            <a:r>
              <a:rPr kumimoji="0" lang="en-US" sz="2400" i="1" kern="1200" cap="none" spc="0" normalizeH="0" baseline="0" noProof="0" dirty="0">
                <a:solidFill>
                  <a:srgbClr val="CCECFF"/>
                </a:solidFill>
                <a:latin typeface="Arial Narrow" panose="020B0606020202030204" pitchFamily="34" charset="0"/>
                <a:ea typeface="+mn-ea"/>
                <a:cs typeface="Arial" panose="020B0604020202020204" pitchFamily="34" charset="0"/>
              </a:rPr>
              <a:t>Multimedia databases</a:t>
            </a:r>
            <a:endParaRPr kumimoji="0" lang="en-US" sz="2400" i="1" kern="1200" cap="none" spc="0" normalizeH="0" baseline="0" noProof="0" dirty="0">
              <a:solidFill>
                <a:srgbClr val="CCECFF"/>
              </a:solidFill>
              <a:latin typeface="Arial Narrow" panose="020B0606020202030204" pitchFamily="34" charset="0"/>
              <a:ea typeface="+mn-ea"/>
              <a:cs typeface="Arial" panose="020B0604020202020204" pitchFamily="34" charset="0"/>
            </a:endParaRPr>
          </a:p>
          <a:p>
            <a:pPr marL="900430" marR="0" indent="-450850" defTabSz="914400">
              <a:buClrTx/>
              <a:buSzTx/>
              <a:buFont typeface="Courier New" panose="02070309020205020404" pitchFamily="49" charset="0"/>
              <a:buChar char="o"/>
              <a:defRPr/>
            </a:pPr>
            <a:r>
              <a:rPr kumimoji="0" lang="en-US" sz="2400" i="1" kern="1200" cap="none" spc="0" normalizeH="0" baseline="0" noProof="0" dirty="0">
                <a:solidFill>
                  <a:srgbClr val="CCECFF"/>
                </a:solidFill>
                <a:latin typeface="Arial Narrow" panose="020B0606020202030204" pitchFamily="34" charset="0"/>
                <a:ea typeface="+mn-ea"/>
                <a:cs typeface="Arial" panose="020B0604020202020204" pitchFamily="34" charset="0"/>
              </a:rPr>
              <a:t>Geographic Information Systems</a:t>
            </a:r>
            <a:endParaRPr kumimoji="0" lang="en-US" sz="2400" i="1" kern="1200" cap="none" spc="0" normalizeH="0" baseline="0" noProof="0" dirty="0">
              <a:solidFill>
                <a:srgbClr val="CCECFF"/>
              </a:solidFill>
              <a:latin typeface="Arial Narrow" panose="020B0606020202030204" pitchFamily="34" charset="0"/>
              <a:ea typeface="+mn-ea"/>
              <a:cs typeface="Arial" panose="020B0604020202020204" pitchFamily="34" charset="0"/>
            </a:endParaRPr>
          </a:p>
          <a:p>
            <a:pPr marL="900430" marR="0" indent="-450850" defTabSz="914400">
              <a:buClrTx/>
              <a:buSzTx/>
              <a:buFont typeface="Courier New" panose="02070309020205020404" pitchFamily="49" charset="0"/>
              <a:buChar char="o"/>
              <a:defRPr/>
            </a:pPr>
            <a:r>
              <a:rPr kumimoji="0" lang="en-US" sz="2400" i="1" kern="1200" cap="none" spc="0" normalizeH="0" baseline="0" noProof="0" dirty="0">
                <a:solidFill>
                  <a:srgbClr val="CCECFF"/>
                </a:solidFill>
                <a:latin typeface="Arial Narrow" panose="020B0606020202030204" pitchFamily="34" charset="0"/>
                <a:ea typeface="+mn-ea"/>
                <a:cs typeface="Arial" panose="020B0604020202020204" pitchFamily="34" charset="0"/>
              </a:rPr>
              <a:t>Data warehouse</a:t>
            </a:r>
            <a:endParaRPr kumimoji="0" lang="en-US" sz="2400" i="1" kern="1200" cap="none" spc="0" normalizeH="0" baseline="0" noProof="0" dirty="0">
              <a:solidFill>
                <a:srgbClr val="CCECFF"/>
              </a:solidFill>
              <a:latin typeface="Arial Narrow" panose="020B0606020202030204" pitchFamily="34" charset="0"/>
              <a:ea typeface="+mn-ea"/>
              <a:cs typeface="Arial" panose="020B0604020202020204" pitchFamily="34" charset="0"/>
            </a:endParaRPr>
          </a:p>
          <a:p>
            <a:pPr marL="900430" marR="0" indent="-450850" defTabSz="914400">
              <a:buClrTx/>
              <a:buSzTx/>
              <a:buFont typeface="Courier New" panose="02070309020205020404" pitchFamily="49" charset="0"/>
              <a:buChar char="o"/>
              <a:defRPr/>
            </a:pPr>
            <a:r>
              <a:rPr kumimoji="0" lang="en-US" sz="2400" i="1" kern="1200" cap="none" spc="0" normalizeH="0" baseline="0" noProof="0" dirty="0">
                <a:solidFill>
                  <a:srgbClr val="CCECFF"/>
                </a:solidFill>
                <a:latin typeface="Arial Narrow" panose="020B0606020202030204" pitchFamily="34" charset="0"/>
                <a:ea typeface="+mn-ea"/>
                <a:cs typeface="Arial" panose="020B0604020202020204" pitchFamily="34" charset="0"/>
              </a:rPr>
              <a:t>On-line analytical processing (OLAP)</a:t>
            </a:r>
            <a:endParaRPr kumimoji="0" lang="en-US" sz="2400" i="1" kern="1200" cap="none" spc="0" normalizeH="0" baseline="0" noProof="0" dirty="0">
              <a:solidFill>
                <a:srgbClr val="CCECFF"/>
              </a:solidFill>
              <a:latin typeface="Arial Narrow" panose="020B0606020202030204" pitchFamily="34" charset="0"/>
              <a:ea typeface="+mn-ea"/>
              <a:cs typeface="Arial" panose="020B0604020202020204" pitchFamily="34" charset="0"/>
            </a:endParaRPr>
          </a:p>
          <a:p>
            <a:pPr marL="900430" marR="0" indent="-450850" defTabSz="914400">
              <a:buClrTx/>
              <a:buSzTx/>
              <a:buFont typeface="Courier New" panose="02070309020205020404" pitchFamily="49" charset="0"/>
              <a:buChar char="o"/>
              <a:defRPr/>
            </a:pPr>
            <a:r>
              <a:rPr kumimoji="0" lang="en-US" sz="2400" i="1" kern="1200" cap="none" spc="0" normalizeH="0" baseline="0" noProof="0" dirty="0">
                <a:solidFill>
                  <a:srgbClr val="CCECFF"/>
                </a:solidFill>
                <a:latin typeface="Arial Narrow" panose="020B0606020202030204" pitchFamily="34" charset="0"/>
                <a:ea typeface="+mn-ea"/>
                <a:cs typeface="Arial" panose="020B0604020202020204" pitchFamily="34" charset="0"/>
              </a:rPr>
              <a:t>Active &amp; real-time databases</a:t>
            </a:r>
            <a:endParaRPr kumimoji="0" lang="en-US" sz="2400" i="1" kern="1200" cap="none" spc="0" normalizeH="0" baseline="0" noProof="0" dirty="0">
              <a:solidFill>
                <a:srgbClr val="CCECFF"/>
              </a:solidFill>
              <a:latin typeface="Arial Narrow" panose="020B0606020202030204" pitchFamily="34" charset="0"/>
              <a:ea typeface="+mn-ea"/>
              <a:cs typeface="Arial" panose="020B0604020202020204" pitchFamily="34" charset="0"/>
            </a:endParaRPr>
          </a:p>
          <a:p>
            <a:pPr marL="900430" marR="0" indent="-450850" defTabSz="914400">
              <a:buClrTx/>
              <a:buSzTx/>
              <a:buFont typeface="Courier New" panose="02070309020205020404" pitchFamily="49" charset="0"/>
              <a:buChar char="o"/>
              <a:defRPr/>
            </a:pP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dll</a:t>
            </a:r>
            <a:endPar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endParaRPr>
          </a:p>
          <a:p>
            <a:pPr marL="342900" marR="0" indent="-342900" algn="just" defTabSz="914400" eaLnBrk="0" hangingPunct="0">
              <a:spcBef>
                <a:spcPct val="20000"/>
              </a:spcBef>
              <a:buClrTx/>
              <a:buSzTx/>
              <a:buFont typeface="Wingdings" panose="05000000000000000000" pitchFamily="2" charset="2"/>
              <a:buChar char="Ø"/>
              <a:defRPr/>
            </a:pPr>
            <a:endParaRPr kumimoji="0" lang="en-US" sz="2400" kern="0" cap="none" spc="0" normalizeH="0" baseline="0" noProof="0" dirty="0">
              <a:solidFill>
                <a:srgbClr val="CCECFF"/>
              </a:solidFill>
              <a:latin typeface="Arial Narrow" panose="020B0606020202030204" pitchFamily="34" charset="0"/>
              <a:ea typeface="+mn-ea"/>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txBox="1"/>
          <p:nvPr/>
        </p:nvSpPr>
        <p:spPr>
          <a:xfrm>
            <a:off x="214313" y="230188"/>
            <a:ext cx="8715375" cy="1027113"/>
          </a:xfrm>
          <a:prstGeom prst="rect">
            <a:avLst/>
          </a:prstGeom>
        </p:spPr>
        <p:txBody>
          <a:bodyPr anchor="ctr"/>
          <a:lstStyle/>
          <a:p>
            <a:pPr marR="0" algn="ctr" defTabSz="914400" eaLnBrk="0" hangingPunct="0">
              <a:buClrTx/>
              <a:buSzTx/>
              <a:buFontTx/>
              <a:buNone/>
              <a:defRPr/>
            </a:pPr>
            <a:r>
              <a:rPr kumimoji="0" lang="en-US" sz="3600" kern="0" cap="none" spc="0" normalizeH="0" baseline="0" noProof="0" dirty="0">
                <a:solidFill>
                  <a:srgbClr val="FFFFCC"/>
                </a:solidFill>
                <a:latin typeface="+mj-lt"/>
                <a:ea typeface="+mj-ea"/>
                <a:cs typeface="+mj-cs"/>
              </a:rPr>
              <a:t>KEUNGGULAN PENGGUNAAN </a:t>
            </a:r>
            <a:endParaRPr kumimoji="0" lang="en-US" sz="3600" kern="0" cap="none" spc="0" normalizeH="0" baseline="0" noProof="0" dirty="0">
              <a:solidFill>
                <a:srgbClr val="FFFFCC"/>
              </a:solidFill>
              <a:latin typeface="+mj-lt"/>
              <a:ea typeface="+mj-ea"/>
              <a:cs typeface="+mj-cs"/>
            </a:endParaRPr>
          </a:p>
          <a:p>
            <a:pPr marR="0" algn="ctr" defTabSz="914400" eaLnBrk="0" hangingPunct="0">
              <a:buClrTx/>
              <a:buSzTx/>
              <a:buFontTx/>
              <a:buNone/>
              <a:defRPr/>
            </a:pPr>
            <a:r>
              <a:rPr kumimoji="0" lang="en-US" sz="3600" kern="0" cap="none" spc="0" normalizeH="0" baseline="0" noProof="0" dirty="0">
                <a:solidFill>
                  <a:srgbClr val="FFFFCC"/>
                </a:solidFill>
                <a:latin typeface="+mj-lt"/>
                <a:ea typeface="+mj-ea"/>
                <a:cs typeface="+mj-cs"/>
              </a:rPr>
              <a:t>BASIS DATA</a:t>
            </a:r>
            <a:endParaRPr kumimoji="0" lang="en-US" sz="3600" kern="0" cap="none" spc="0" normalizeH="0" baseline="0" noProof="0" dirty="0">
              <a:solidFill>
                <a:srgbClr val="FFFFCC"/>
              </a:solidFill>
              <a:latin typeface="+mj-lt"/>
              <a:ea typeface="+mj-ea"/>
              <a:cs typeface="+mj-cs"/>
            </a:endParaRPr>
          </a:p>
        </p:txBody>
      </p:sp>
      <p:sp>
        <p:nvSpPr>
          <p:cNvPr id="3" name="Content Placeholder 2"/>
          <p:cNvSpPr txBox="1"/>
          <p:nvPr/>
        </p:nvSpPr>
        <p:spPr>
          <a:xfrm>
            <a:off x="214313" y="1387475"/>
            <a:ext cx="8643938" cy="3946525"/>
          </a:xfrm>
          <a:prstGeom prst="rect">
            <a:avLst/>
          </a:prstGeom>
        </p:spPr>
        <p:txBody>
          <a:bodyPr/>
          <a:lstStyle/>
          <a:p>
            <a:pPr marL="457200" marR="0" indent="-457200" defTabSz="914400">
              <a:buClrTx/>
              <a:buSzTx/>
              <a:buFont typeface="+mj-lt"/>
              <a:buAutoNum type="arabicPeriod"/>
              <a:defRPr/>
            </a:pPr>
            <a:r>
              <a:rPr kumimoji="0" lang="fi-FI" sz="2400" kern="1200" cap="none" spc="0" normalizeH="0" baseline="0" noProof="0" dirty="0">
                <a:solidFill>
                  <a:srgbClr val="CCECFF"/>
                </a:solidFill>
                <a:latin typeface="Arial Narrow" panose="020B0606020202030204" pitchFamily="34" charset="0"/>
                <a:ea typeface="+mn-ea"/>
                <a:cs typeface="Arial" panose="020B0604020202020204" pitchFamily="34" charset="0"/>
              </a:rPr>
              <a:t>Kecepatan, Kemudahan dan Efisiensi Ruang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Penyimpanan</a:t>
            </a:r>
            <a:endPar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endParaRPr>
          </a:p>
          <a:p>
            <a:pPr marL="457200" marR="0" indent="-457200" defTabSz="914400">
              <a:buClrTx/>
              <a:buSzTx/>
              <a:buFont typeface="+mj-lt"/>
              <a:buAutoNum type="arabicPeriod"/>
              <a:defRPr/>
            </a:pP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Redundansi</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data minimum</a:t>
            </a:r>
            <a:endPar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endParaRPr>
          </a:p>
          <a:p>
            <a:pPr marL="457200" marR="0" indent="-457200" defTabSz="914400">
              <a:buClrTx/>
              <a:buSzTx/>
              <a:buFont typeface="+mj-lt"/>
              <a:buAutoNum type="arabicPeriod"/>
              <a:defRPr/>
            </a:pP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Konsistensi</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data</a:t>
            </a:r>
            <a:endPar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endParaRPr>
          </a:p>
          <a:p>
            <a:pPr marL="457200" marR="0" indent="-457200" defTabSz="914400">
              <a:buClrTx/>
              <a:buSzTx/>
              <a:buFont typeface="+mj-lt"/>
              <a:buAutoNum type="arabicPeriod"/>
              <a:defRPr/>
            </a:pP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Integrasi</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data</a:t>
            </a:r>
            <a:endPar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endParaRPr>
          </a:p>
          <a:p>
            <a:pPr marL="457200" marR="0" indent="-457200" defTabSz="914400">
              <a:buClrTx/>
              <a:buSzTx/>
              <a:buFont typeface="+mj-lt"/>
              <a:buAutoNum type="arabicPeriod"/>
              <a:defRPr/>
            </a:pP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Pemakaian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data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bersama</a:t>
            </a:r>
            <a:endPar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endParaRPr>
          </a:p>
          <a:p>
            <a:pPr marL="457200" marR="0" indent="-457200" defTabSz="914400">
              <a:buClrTx/>
              <a:buSzTx/>
              <a:buFont typeface="+mj-lt"/>
              <a:buAutoNum type="arabicPeriod"/>
              <a:defRPr/>
            </a:pP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Mempermudah</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pengembangan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aplikasi</a:t>
            </a:r>
            <a:endPar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endParaRPr>
          </a:p>
          <a:p>
            <a:pPr marL="457200" marR="0" indent="-457200" defTabSz="914400">
              <a:buClrTx/>
              <a:buSzTx/>
              <a:buFont typeface="+mj-lt"/>
              <a:buAutoNum type="arabicPeriod"/>
              <a:defRPr/>
            </a:pP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Menyediakan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antarmuka</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banyak</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pengguna</a:t>
            </a:r>
            <a:endPar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endParaRPr>
          </a:p>
          <a:p>
            <a:pPr marL="457200" marR="0" indent="-457200" defTabSz="914400">
              <a:buClrTx/>
              <a:buSzTx/>
              <a:buFont typeface="+mj-lt"/>
              <a:buAutoNum type="arabicPeriod"/>
              <a:defRPr/>
            </a:pP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Menggambarkan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relasi</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komplek</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diantara</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data</a:t>
            </a:r>
            <a:endPar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endParaRPr>
          </a:p>
          <a:p>
            <a:pPr marL="457200" marR="0" indent="-457200" defTabSz="914400">
              <a:buClrTx/>
              <a:buSzTx/>
              <a:buFont typeface="+mj-lt"/>
              <a:buAutoNum type="arabicPeriod"/>
              <a:defRPr/>
            </a:pP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Menjalankan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batasan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keutuhan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i="1" kern="1200" cap="none" spc="0" normalizeH="0" baseline="0" noProof="0" dirty="0">
                <a:solidFill>
                  <a:srgbClr val="CCECFF"/>
                </a:solidFill>
                <a:latin typeface="Arial Narrow" panose="020B0606020202030204" pitchFamily="34" charset="0"/>
                <a:ea typeface="+mn-ea"/>
                <a:cs typeface="Arial" panose="020B0604020202020204" pitchFamily="34" charset="0"/>
              </a:rPr>
              <a:t>integrity)</a:t>
            </a:r>
            <a:endParaRPr kumimoji="0" lang="en-US" sz="2400" i="1" kern="1200" cap="none" spc="0" normalizeH="0" baseline="0" noProof="0" dirty="0">
              <a:solidFill>
                <a:srgbClr val="CCECFF"/>
              </a:solidFill>
              <a:latin typeface="Arial Narrow" panose="020B0606020202030204" pitchFamily="34" charset="0"/>
              <a:ea typeface="+mn-ea"/>
              <a:cs typeface="Arial" panose="020B0604020202020204" pitchFamily="34" charset="0"/>
            </a:endParaRPr>
          </a:p>
          <a:p>
            <a:pPr marL="457200" marR="0" indent="-457200" defTabSz="914400">
              <a:buClrTx/>
              <a:buSzTx/>
              <a:buFont typeface="+mj-lt"/>
              <a:buAutoNum type="arabicPeriod"/>
              <a:defRPr/>
            </a:pP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Menyediakan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backup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dan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kern="1200" cap="none" spc="0" normalizeH="0" baseline="0" noProof="0" dirty="0" err="1">
                <a:solidFill>
                  <a:srgbClr val="CCECFF"/>
                </a:solidFill>
                <a:latin typeface="Arial Narrow" panose="020B0606020202030204" pitchFamily="34" charset="0"/>
                <a:ea typeface="+mn-ea"/>
                <a:cs typeface="Arial" panose="020B0604020202020204" pitchFamily="34" charset="0"/>
              </a:rPr>
              <a:t>pemulihan</a:t>
            </a:r>
            <a:r>
              <a:rPr kumimoji="0" lang="en-US" sz="24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400" i="1" kern="1200" cap="none" spc="0" normalizeH="0" baseline="0" noProof="0" dirty="0">
                <a:solidFill>
                  <a:srgbClr val="CCECFF"/>
                </a:solidFill>
                <a:latin typeface="Arial Narrow" panose="020B0606020202030204" pitchFamily="34" charset="0"/>
                <a:ea typeface="+mn-ea"/>
                <a:cs typeface="Arial" panose="020B0604020202020204" pitchFamily="34" charset="0"/>
              </a:rPr>
              <a:t>recovery )</a:t>
            </a:r>
            <a:endParaRPr kumimoji="0" lang="en-US" sz="2400" kern="0" cap="none" spc="0" normalizeH="0" baseline="0" noProof="0" dirty="0">
              <a:solidFill>
                <a:srgbClr val="CCECFF"/>
              </a:solidFill>
              <a:latin typeface="Arial Narrow" panose="020B0606020202030204" pitchFamily="34" charset="0"/>
              <a:ea typeface="+mn-ea"/>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txBox="1"/>
          <p:nvPr/>
        </p:nvSpPr>
        <p:spPr>
          <a:xfrm>
            <a:off x="214313" y="357188"/>
            <a:ext cx="8715375" cy="1027113"/>
          </a:xfrm>
          <a:prstGeom prst="rect">
            <a:avLst/>
          </a:prstGeom>
        </p:spPr>
        <p:txBody>
          <a:bodyPr anchor="ctr"/>
          <a:lstStyle/>
          <a:p>
            <a:pPr marR="0" algn="ctr" defTabSz="914400" eaLnBrk="0" hangingPunct="0">
              <a:buClrTx/>
              <a:buSzTx/>
              <a:buFontTx/>
              <a:buNone/>
              <a:defRPr/>
            </a:pPr>
            <a:r>
              <a:rPr kumimoji="0" lang="en-US" sz="3600" kern="0" cap="none" spc="0" normalizeH="0" baseline="0" noProof="0" dirty="0">
                <a:solidFill>
                  <a:srgbClr val="FFFFCC"/>
                </a:solidFill>
                <a:latin typeface="+mj-lt"/>
                <a:ea typeface="+mj-ea"/>
                <a:cs typeface="+mj-cs"/>
              </a:rPr>
              <a:t>KELEMAHAN PENGGUNAAN </a:t>
            </a:r>
            <a:endParaRPr kumimoji="0" lang="en-US" sz="3600" kern="0" cap="none" spc="0" normalizeH="0" baseline="0" noProof="0" dirty="0">
              <a:solidFill>
                <a:srgbClr val="FFFFCC"/>
              </a:solidFill>
              <a:latin typeface="+mj-lt"/>
              <a:ea typeface="+mj-ea"/>
              <a:cs typeface="+mj-cs"/>
            </a:endParaRPr>
          </a:p>
          <a:p>
            <a:pPr marR="0" algn="ctr" defTabSz="914400" eaLnBrk="0" hangingPunct="0">
              <a:buClrTx/>
              <a:buSzTx/>
              <a:buFontTx/>
              <a:buNone/>
              <a:defRPr/>
            </a:pPr>
            <a:r>
              <a:rPr kumimoji="0" lang="en-US" sz="3600" kern="0" cap="none" spc="0" normalizeH="0" baseline="0" noProof="0" dirty="0">
                <a:solidFill>
                  <a:srgbClr val="FFFFCC"/>
                </a:solidFill>
                <a:latin typeface="+mj-lt"/>
                <a:ea typeface="+mj-ea"/>
                <a:cs typeface="+mj-cs"/>
              </a:rPr>
              <a:t>BASIS DATA</a:t>
            </a:r>
            <a:endParaRPr kumimoji="0" lang="en-US" sz="3600" kern="0" cap="none" spc="0" normalizeH="0" baseline="0" noProof="0" dirty="0">
              <a:solidFill>
                <a:srgbClr val="FFFFCC"/>
              </a:solidFill>
              <a:latin typeface="+mj-lt"/>
              <a:ea typeface="+mj-ea"/>
              <a:cs typeface="+mj-cs"/>
            </a:endParaRPr>
          </a:p>
        </p:txBody>
      </p:sp>
      <p:sp>
        <p:nvSpPr>
          <p:cNvPr id="3" name="Content Placeholder 2"/>
          <p:cNvSpPr txBox="1"/>
          <p:nvPr/>
        </p:nvSpPr>
        <p:spPr>
          <a:xfrm>
            <a:off x="428625" y="1714500"/>
            <a:ext cx="8001000" cy="1727200"/>
          </a:xfrm>
          <a:prstGeom prst="rect">
            <a:avLst/>
          </a:prstGeom>
        </p:spPr>
        <p:txBody>
          <a:bodyPr/>
          <a:lstStyle/>
          <a:p>
            <a:pPr marL="457200" marR="0" indent="-457200" defTabSz="914400">
              <a:buClrTx/>
              <a:buSzTx/>
              <a:buFont typeface="+mj-lt"/>
              <a:buAutoNum type="arabicPeriod"/>
              <a:defRPr/>
            </a:pP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Memerlukan</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tenaga</a:t>
            </a:r>
            <a:r>
              <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rPr>
              <a:t> </a:t>
            </a: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spesialis</a:t>
            </a:r>
            <a:endPar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endParaRPr>
          </a:p>
          <a:p>
            <a:pPr marL="457200" marR="0" indent="-457200" defTabSz="914400">
              <a:buClrTx/>
              <a:buSzTx/>
              <a:buFont typeface="+mj-lt"/>
              <a:buAutoNum type="arabicPeriod"/>
              <a:defRPr/>
            </a:pP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Kompleks</a:t>
            </a:r>
            <a:endParaRPr kumimoji="0" lang="en-US" sz="2800" kern="1200" cap="none" spc="0" normalizeH="0" baseline="0" noProof="0" dirty="0">
              <a:solidFill>
                <a:srgbClr val="CCECFF"/>
              </a:solidFill>
              <a:latin typeface="Arial Narrow" panose="020B0606020202030204" pitchFamily="34" charset="0"/>
              <a:ea typeface="+mn-ea"/>
              <a:cs typeface="Arial" panose="020B0604020202020204" pitchFamily="34" charset="0"/>
            </a:endParaRPr>
          </a:p>
          <a:p>
            <a:pPr marL="457200" marR="0" indent="-457200" defTabSz="914400">
              <a:buClrTx/>
              <a:buSzTx/>
              <a:buFont typeface="+mj-lt"/>
              <a:buAutoNum type="arabicPeriod"/>
              <a:defRPr/>
            </a:pPr>
            <a:r>
              <a:rPr kumimoji="0" lang="en-US" sz="2800" kern="1200" cap="none" spc="0" normalizeH="0" baseline="0" noProof="0" dirty="0" err="1">
                <a:solidFill>
                  <a:srgbClr val="CCECFF"/>
                </a:solidFill>
                <a:latin typeface="Arial Narrow" panose="020B0606020202030204" pitchFamily="34" charset="0"/>
                <a:ea typeface="+mn-ea"/>
                <a:cs typeface="Arial" panose="020B0604020202020204" pitchFamily="34" charset="0"/>
              </a:rPr>
              <a:t>Mahal</a:t>
            </a:r>
            <a:endParaRPr kumimoji="0" lang="en-US" sz="2800" kern="0" cap="none" spc="0" normalizeH="0" baseline="0" noProof="0" dirty="0">
              <a:solidFill>
                <a:srgbClr val="CCECFF"/>
              </a:solidFill>
              <a:latin typeface="Arial Narrow" panose="020B0606020202030204" pitchFamily="34" charset="0"/>
              <a:ea typeface="+mn-ea"/>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3"/>
          <p:cNvSpPr/>
          <p:nvPr/>
        </p:nvSpPr>
        <p:spPr>
          <a:xfrm>
            <a:off x="1000125" y="1214438"/>
            <a:ext cx="7286625" cy="1570037"/>
          </a:xfrm>
          <a:prstGeom prst="rect">
            <a:avLst/>
          </a:prstGeom>
          <a:noFill/>
          <a:ln w="9525">
            <a:noFill/>
          </a:ln>
        </p:spPr>
        <p:txBody>
          <a:bodyPr>
            <a:spAutoFit/>
          </a:bodyPr>
          <a:p>
            <a:pPr algn="ctr"/>
            <a:r>
              <a:rPr lang="en-US" altLang="x-none" sz="3200" dirty="0">
                <a:solidFill>
                  <a:srgbClr val="CCECFF"/>
                </a:solidFill>
                <a:latin typeface="Arial Narrow" panose="020B0606020202030204" pitchFamily="34" charset="0"/>
              </a:rPr>
              <a:t>Ilmu pengetahuan itu tidak akan memberikan sebagian dirinya kepadamu sampai engkau memberikan seluruh dirimu kepadanya.</a:t>
            </a:r>
            <a:endParaRPr lang="en-US" altLang="x-none" sz="3200" dirty="0">
              <a:solidFill>
                <a:srgbClr val="CCECFF"/>
              </a:solidFill>
              <a:latin typeface="Arial Narrow" panose="020B0606020202030204" pitchFamily="34" charset="0"/>
            </a:endParaRPr>
          </a:p>
        </p:txBody>
      </p:sp>
    </p:spTree>
  </p:cSld>
  <p:clrMapOvr>
    <a:masterClrMapping/>
  </p:clrMapOvr>
</p:sld>
</file>

<file path=ppt/theme/theme1.xml><?xml version="1.0" encoding="utf-8"?>
<a:theme xmlns:a="http://schemas.openxmlformats.org/drawingml/2006/main" name="Diseño predeterminado">
  <a:themeElements>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iseño predeterminado">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iseño predeterminado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iseño predeterminado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iseño predeterminado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iseño predeterminado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iseño predeterminado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iseño predeterminado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iseño predeterminad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iseño predeterminado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iseño predeterminado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iseño predeterminado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iseño predeterminado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6887</Words>
  <Application>WPS Presentation</Application>
  <PresentationFormat>On-screen Show (4:3)</PresentationFormat>
  <Paragraphs>178</Paragraphs>
  <Slides>22</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22</vt:i4>
      </vt:variant>
    </vt:vector>
  </HeadingPairs>
  <TitlesOfParts>
    <vt:vector size="31" baseType="lpstr">
      <vt:lpstr>Arial</vt:lpstr>
      <vt:lpstr>SimSun</vt:lpstr>
      <vt:lpstr>Wingdings</vt:lpstr>
      <vt:lpstr>Calibri</vt:lpstr>
      <vt:lpstr>Arial Narrow</vt:lpstr>
      <vt:lpstr>Courier New</vt:lpstr>
      <vt:lpstr>Microsoft YaHei</vt:lpstr>
      <vt:lpstr>Arial Unicode MS</vt:lpstr>
      <vt:lpstr>Diseño predeterminado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Toshiba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Mariajose</dc:creator>
  <cp:lastModifiedBy>JTI-4</cp:lastModifiedBy>
  <cp:revision>489</cp:revision>
  <dcterms:created xsi:type="dcterms:W3CDTF">2010-05-23T14:28:12Z</dcterms:created>
  <dcterms:modified xsi:type="dcterms:W3CDTF">2026-09-04T08:56:51Z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B798040AA5D04609AE4DAAE9067C4DA4_13</vt:lpwstr>
  </property>
  <property fmtid="{D5CDD505-2E9C-101B-9397-08002B2CF9AE}" pid="3" name="KSOProductBuildVer">
    <vt:lpwstr>1033-12.1.0.28032</vt:lpwstr>
  </property>
</Properties>
</file>